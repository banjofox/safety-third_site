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Average"/>
      <p:regular r:id="rId39"/>
    </p:embeddedFont>
    <p:embeddedFont>
      <p:font typeface="Oswal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5.xml"/><Relationship Id="rId41" Type="http://schemas.openxmlformats.org/officeDocument/2006/relationships/font" Target="fonts/Oswald-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Average-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399dd3d54_0_1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399dd3d54_0_1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399dd3d54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399dd3d54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39bbb8c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39bbb8c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399dd3d54_0_1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399dd3d54_0_1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399dd3d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399dd3d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399dd3d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399dd3d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399dd3d54_0_1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399dd3d54_0_1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3a5c7a0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3a5c7a0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399dd3d54_0_1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399dd3d54_0_1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399dd3d54_0_1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399dd3d54_0_1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399dd3d54_0_1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399dd3d54_0_1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399dd3d54_0_1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9399dd3d54_0_1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3a5c7a04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3a5c7a04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399dd3d54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399dd3d54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3a5c7a04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3a5c7a04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70c8eaa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70c8eaa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70c8eaa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70c8eaa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3a5c7a04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3a5c7a04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3d77c59c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3d77c59c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3d77c59c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93d77c59c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3d77c59cf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3d77c59cf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3d77c59c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93d77c59c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3e2c93bbe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3e2c93bbe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3e2c93bbe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3e2c93bbe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3d77c59c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3d77c59c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3e2c93bbe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3e2c93bbe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87d54a55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c87d54a55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3d77c59c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93d77c59c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3d77c59c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93d77c59c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4073c5a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94073c5a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4073c5a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4073c5a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3d77c59c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93d77c59c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grpSp>
        <p:nvGrpSpPr>
          <p:cNvPr id="13" name="Google Shape;13;p2"/>
          <p:cNvGrpSpPr/>
          <p:nvPr/>
        </p:nvGrpSpPr>
        <p:grpSpPr>
          <a:xfrm>
            <a:off x="4350279" y="2855377"/>
            <a:ext cx="443589" cy="105632"/>
            <a:chOff x="4137525" y="2915950"/>
            <a:chExt cx="869100" cy="207000"/>
          </a:xfrm>
        </p:grpSpPr>
        <p:sp>
          <p:nvSpPr>
            <p:cNvPr id="14" name="Google Shape;14;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8" name="Google Shape;18;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 name="Google Shape;19;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311700" y="445025"/>
            <a:ext cx="7726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311700" y="1141163"/>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type="title"/>
          </p:nvPr>
        </p:nvSpPr>
        <p:spPr>
          <a:xfrm>
            <a:off x="311700" y="445025"/>
            <a:ext cx="7726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txBox="1"/>
          <p:nvPr>
            <p:ph type="title"/>
          </p:nvPr>
        </p:nvSpPr>
        <p:spPr>
          <a:xfrm>
            <a:off x="311700" y="445025"/>
            <a:ext cx="77268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 name="Google Shape;34;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1" name="Google Shape;41;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5" name="Google Shape;45;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 name="Google Shape;46;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8" name="Google Shape;48;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51" name="Google Shape;51;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77268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41163"/>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title="SafetyThird.png"/>
          <p:cNvPicPr preferRelativeResize="0"/>
          <p:nvPr/>
        </p:nvPicPr>
        <p:blipFill>
          <a:blip r:embed="rId1">
            <a:alphaModFix/>
          </a:blip>
          <a:stretch>
            <a:fillRect/>
          </a:stretch>
        </p:blipFill>
        <p:spPr>
          <a:xfrm>
            <a:off x="8158851" y="119822"/>
            <a:ext cx="880101" cy="880150"/>
          </a:xfrm>
          <a:prstGeom prst="rect">
            <a:avLst/>
          </a:prstGeom>
          <a:noFill/>
          <a:ln>
            <a:noFill/>
          </a:ln>
        </p:spPr>
      </p:pic>
      <p:sp>
        <p:nvSpPr>
          <p:cNvPr id="10" name="Google Shape;10;p1"/>
          <p:cNvSpPr txBox="1"/>
          <p:nvPr/>
        </p:nvSpPr>
        <p:spPr>
          <a:xfrm>
            <a:off x="116875" y="106325"/>
            <a:ext cx="156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accent3"/>
                </a:solidFill>
                <a:latin typeface="Average"/>
                <a:ea typeface="Average"/>
                <a:cs typeface="Average"/>
                <a:sym typeface="Average"/>
              </a:rPr>
              <a:t>Authored by: Banjo Fox</a:t>
            </a:r>
            <a:endParaRPr sz="1000">
              <a:solidFill>
                <a:schemeClr val="accent3"/>
              </a:solidFill>
              <a:latin typeface="Average"/>
              <a:ea typeface="Average"/>
              <a:cs typeface="Average"/>
              <a:sym typeface="Average"/>
            </a:endParaRPr>
          </a:p>
        </p:txBody>
      </p:sp>
      <p:sp>
        <p:nvSpPr>
          <p:cNvPr id="11" name="Google Shape;11;p1"/>
          <p:cNvSpPr txBox="1"/>
          <p:nvPr/>
        </p:nvSpPr>
        <p:spPr>
          <a:xfrm>
            <a:off x="116875" y="4708450"/>
            <a:ext cx="156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accent3"/>
                </a:solidFill>
                <a:latin typeface="Average"/>
                <a:ea typeface="Average"/>
                <a:cs typeface="Average"/>
                <a:sym typeface="Average"/>
              </a:rPr>
              <a:t>Version: DRAFT 1.0</a:t>
            </a:r>
            <a:endParaRPr sz="1000">
              <a:solidFill>
                <a:schemeClr val="accent3"/>
              </a:solidFill>
              <a:latin typeface="Average"/>
              <a:ea typeface="Average"/>
              <a:cs typeface="Average"/>
              <a:sym typeface="Average"/>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671258" y="990800"/>
            <a:ext cx="7801500" cy="17301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en" sz="2600"/>
              <a:t>Safety Third Presents:</a:t>
            </a:r>
            <a:br>
              <a:rPr lang="en" sz="2600"/>
            </a:br>
            <a:r>
              <a:rPr lang="en" sz="6650"/>
              <a:t>Kink 101</a:t>
            </a:r>
            <a:endParaRPr sz="6650"/>
          </a:p>
        </p:txBody>
      </p:sp>
      <p:sp>
        <p:nvSpPr>
          <p:cNvPr id="63" name="Google Shape;63;p13"/>
          <p:cNvSpPr txBox="1"/>
          <p:nvPr>
            <p:ph idx="1" type="subTitle"/>
          </p:nvPr>
        </p:nvSpPr>
        <p:spPr>
          <a:xfrm>
            <a:off x="671250" y="3174876"/>
            <a:ext cx="7801500" cy="7926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1600"/>
              </a:spcAft>
              <a:buClr>
                <a:schemeClr val="dk1"/>
              </a:buClr>
              <a:buSzPts val="1100"/>
              <a:buFont typeface="Arial"/>
              <a:buNone/>
            </a:pPr>
            <a:r>
              <a:rPr lang="en" sz="2700">
                <a:solidFill>
                  <a:schemeClr val="lt2"/>
                </a:solidFill>
              </a:rPr>
              <a:t>An introduction to alternative forms of adult play.</a:t>
            </a:r>
            <a:endParaRPr sz="40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AGENDA(ish)</a:t>
            </a:r>
            <a:endParaRPr/>
          </a:p>
        </p:txBody>
      </p:sp>
      <p:sp>
        <p:nvSpPr>
          <p:cNvPr id="69" name="Google Shape;69;p14"/>
          <p:cNvSpPr txBox="1"/>
          <p:nvPr>
            <p:ph idx="1" type="body"/>
          </p:nvPr>
        </p:nvSpPr>
        <p:spPr>
          <a:xfrm>
            <a:off x="311700" y="1152475"/>
            <a:ext cx="3999900" cy="3416400"/>
          </a:xfrm>
          <a:prstGeom prst="rect">
            <a:avLst/>
          </a:prstGeom>
        </p:spPr>
        <p:txBody>
          <a:bodyPr anchorCtr="0" anchor="ctr"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sz="1800"/>
              <a:t>Disclaimer</a:t>
            </a:r>
            <a:endParaRPr sz="1800"/>
          </a:p>
          <a:p>
            <a:pPr indent="-342900" lvl="0" marL="457200" rtl="0" algn="l">
              <a:lnSpc>
                <a:spcPct val="200000"/>
              </a:lnSpc>
              <a:spcBef>
                <a:spcPts val="0"/>
              </a:spcBef>
              <a:spcAft>
                <a:spcPts val="0"/>
              </a:spcAft>
              <a:buSzPts val="1800"/>
              <a:buChar char="●"/>
            </a:pPr>
            <a:r>
              <a:rPr lang="en" sz="1800"/>
              <a:t>Introductions</a:t>
            </a:r>
            <a:endParaRPr sz="1800"/>
          </a:p>
          <a:p>
            <a:pPr indent="-342900" lvl="0" marL="457200" rtl="0" algn="l">
              <a:lnSpc>
                <a:spcPct val="200000"/>
              </a:lnSpc>
              <a:spcBef>
                <a:spcPts val="0"/>
              </a:spcBef>
              <a:spcAft>
                <a:spcPts val="0"/>
              </a:spcAft>
              <a:buSzPts val="1800"/>
              <a:buChar char="●"/>
            </a:pPr>
            <a:r>
              <a:rPr lang="en" sz="1800"/>
              <a:t>Terminology Review</a:t>
            </a:r>
            <a:endParaRPr sz="1800"/>
          </a:p>
          <a:p>
            <a:pPr indent="-342900" lvl="0" marL="457200" rtl="0" algn="l">
              <a:lnSpc>
                <a:spcPct val="200000"/>
              </a:lnSpc>
              <a:spcBef>
                <a:spcPts val="0"/>
              </a:spcBef>
              <a:spcAft>
                <a:spcPts val="0"/>
              </a:spcAft>
              <a:buSzPts val="1800"/>
              <a:buChar char="●"/>
            </a:pPr>
            <a:r>
              <a:rPr lang="en" sz="1800"/>
              <a:t>What is Kink?</a:t>
            </a:r>
            <a:endParaRPr sz="1800"/>
          </a:p>
          <a:p>
            <a:pPr indent="-342900" lvl="0" marL="457200" rtl="0" algn="l">
              <a:lnSpc>
                <a:spcPct val="200000"/>
              </a:lnSpc>
              <a:spcBef>
                <a:spcPts val="0"/>
              </a:spcBef>
              <a:spcAft>
                <a:spcPts val="0"/>
              </a:spcAft>
              <a:buSzPts val="1800"/>
              <a:buChar char="●"/>
            </a:pPr>
            <a:r>
              <a:rPr lang="en" sz="1800"/>
              <a:t>Break (5-15 minutes)</a:t>
            </a:r>
            <a:endParaRPr sz="1800"/>
          </a:p>
        </p:txBody>
      </p:sp>
      <p:sp>
        <p:nvSpPr>
          <p:cNvPr id="70" name="Google Shape;70;p14"/>
          <p:cNvSpPr txBox="1"/>
          <p:nvPr>
            <p:ph idx="2" type="body"/>
          </p:nvPr>
        </p:nvSpPr>
        <p:spPr>
          <a:xfrm>
            <a:off x="4832400" y="1152475"/>
            <a:ext cx="3999900" cy="3416400"/>
          </a:xfrm>
          <a:prstGeom prst="rect">
            <a:avLst/>
          </a:prstGeom>
        </p:spPr>
        <p:txBody>
          <a:bodyPr anchorCtr="0" anchor="ctr"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sz="1800"/>
              <a:t>Types of Play</a:t>
            </a:r>
            <a:endParaRPr sz="1800"/>
          </a:p>
          <a:p>
            <a:pPr indent="-342900" lvl="0" marL="457200" rtl="0" algn="l">
              <a:lnSpc>
                <a:spcPct val="200000"/>
              </a:lnSpc>
              <a:spcBef>
                <a:spcPts val="0"/>
              </a:spcBef>
              <a:spcAft>
                <a:spcPts val="0"/>
              </a:spcAft>
              <a:buSzPts val="1800"/>
              <a:buChar char="●"/>
            </a:pPr>
            <a:r>
              <a:rPr lang="en" sz="1800"/>
              <a:t>Play Party Expectations</a:t>
            </a:r>
            <a:endParaRPr sz="1800"/>
          </a:p>
          <a:p>
            <a:pPr indent="-342900" lvl="0" marL="457200" rtl="0" algn="l">
              <a:lnSpc>
                <a:spcPct val="200000"/>
              </a:lnSpc>
              <a:spcBef>
                <a:spcPts val="0"/>
              </a:spcBef>
              <a:spcAft>
                <a:spcPts val="0"/>
              </a:spcAft>
              <a:buSzPts val="1800"/>
              <a:buChar char="●"/>
            </a:pPr>
            <a:r>
              <a:rPr lang="en" sz="1800"/>
              <a:t>Play Party Etiquette</a:t>
            </a:r>
            <a:endParaRPr sz="1800"/>
          </a:p>
          <a:p>
            <a:pPr indent="-342900" lvl="0" marL="457200" rtl="0" algn="l">
              <a:lnSpc>
                <a:spcPct val="200000"/>
              </a:lnSpc>
              <a:spcBef>
                <a:spcPts val="0"/>
              </a:spcBef>
              <a:spcAft>
                <a:spcPts val="0"/>
              </a:spcAft>
              <a:buSzPts val="1800"/>
              <a:buChar char="●"/>
            </a:pPr>
            <a:r>
              <a:rPr lang="en" sz="1800"/>
              <a:t>Best Practices</a:t>
            </a:r>
            <a:endParaRPr sz="1800"/>
          </a:p>
          <a:p>
            <a:pPr indent="-342900" lvl="0" marL="457200" rtl="0" algn="l">
              <a:lnSpc>
                <a:spcPct val="200000"/>
              </a:lnSpc>
              <a:spcBef>
                <a:spcPts val="0"/>
              </a:spcBef>
              <a:spcAft>
                <a:spcPts val="0"/>
              </a:spcAft>
              <a:buSzPts val="1800"/>
              <a:buChar char="●"/>
            </a:pPr>
            <a:r>
              <a:rPr lang="en" sz="1800"/>
              <a:t>Q &amp; A</a:t>
            </a:r>
            <a:endParaRPr sz="1800"/>
          </a:p>
        </p:txBody>
      </p:sp>
      <p:sp>
        <p:nvSpPr>
          <p:cNvPr id="71" name="Google Shape;71;p1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DISCLAIMER</a:t>
            </a:r>
            <a:endParaRPr/>
          </a:p>
        </p:txBody>
      </p:sp>
      <p:sp>
        <p:nvSpPr>
          <p:cNvPr id="77" name="Google Shape;77;p15"/>
          <p:cNvSpPr txBox="1"/>
          <p:nvPr>
            <p:ph idx="1" type="body"/>
          </p:nvPr>
        </p:nvSpPr>
        <p:spPr>
          <a:xfrm>
            <a:off x="311700" y="1141163"/>
            <a:ext cx="85206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This presentation discusses kink as a form of consensual adult play.  All content is intended for adults (age 18+) only.</a:t>
            </a:r>
            <a:endParaRPr/>
          </a:p>
          <a:p>
            <a:pPr indent="0" lvl="0" marL="0" rtl="0" algn="ctr">
              <a:spcBef>
                <a:spcPts val="1200"/>
              </a:spcBef>
              <a:spcAft>
                <a:spcPts val="0"/>
              </a:spcAft>
              <a:buNone/>
            </a:pPr>
            <a:r>
              <a:rPr lang="en"/>
              <a:t>All activities discussed emphasize informed consent, communication, and personal boundaries. Participation in or interest in kink is a personal choice; no experience or endorsement is assumed.</a:t>
            </a:r>
            <a:endParaRPr/>
          </a:p>
          <a:p>
            <a:pPr indent="0" lvl="0" marL="0" rtl="0" algn="ctr">
              <a:spcBef>
                <a:spcPts val="1200"/>
              </a:spcBef>
              <a:spcAft>
                <a:spcPts val="1200"/>
              </a:spcAft>
              <a:buNone/>
            </a:pPr>
            <a:r>
              <a:rPr lang="en"/>
              <a:t>All information is presented is general in nature and intended for educational discussion.  It is not a substitute for legal, medical, or professional guidance.  Participants are responsible for understanding and complying with applicable laws, safety practices, and personal boundaries. The presenter assumes no responsibility for individual actions or outcomes</a:t>
            </a:r>
            <a:endParaRPr/>
          </a:p>
        </p:txBody>
      </p:sp>
      <p:sp>
        <p:nvSpPr>
          <p:cNvPr id="78" name="Google Shape;78;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LICENSING – CC BY-NC 4.0</a:t>
            </a:r>
            <a:endParaRPr/>
          </a:p>
        </p:txBody>
      </p:sp>
      <p:sp>
        <p:nvSpPr>
          <p:cNvPr id="84" name="Google Shape;84;p16"/>
          <p:cNvSpPr txBox="1"/>
          <p:nvPr>
            <p:ph idx="1" type="body"/>
          </p:nvPr>
        </p:nvSpPr>
        <p:spPr>
          <a:xfrm>
            <a:off x="311700" y="1141163"/>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1900"/>
              <a:t>All Safety Third publications are covered under Creative Commons Attribution NonCommercial License</a:t>
            </a:r>
            <a:br>
              <a:rPr lang="en" sz="1900"/>
            </a:br>
            <a:br>
              <a:rPr lang="en" sz="1900"/>
            </a:br>
            <a:r>
              <a:rPr lang="en" sz="1900"/>
              <a:t>You are free to:</a:t>
            </a:r>
            <a:endParaRPr sz="1900"/>
          </a:p>
          <a:p>
            <a:pPr indent="-322103" lvl="0" marL="457200" rtl="0" algn="l">
              <a:spcBef>
                <a:spcPts val="1200"/>
              </a:spcBef>
              <a:spcAft>
                <a:spcPts val="0"/>
              </a:spcAft>
              <a:buSzPct val="100000"/>
              <a:buChar char="●"/>
            </a:pPr>
            <a:r>
              <a:rPr lang="en" sz="1900">
                <a:solidFill>
                  <a:srgbClr val="C9DAF8"/>
                </a:solidFill>
              </a:rPr>
              <a:t>SHARE</a:t>
            </a:r>
            <a:r>
              <a:rPr lang="en" sz="1900"/>
              <a:t> - copy and redistribute the material in any medium or format</a:t>
            </a:r>
            <a:br>
              <a:rPr lang="en" sz="1900"/>
            </a:br>
            <a:endParaRPr sz="1900"/>
          </a:p>
          <a:p>
            <a:pPr indent="-322103" lvl="0" marL="457200" rtl="0" algn="l">
              <a:spcBef>
                <a:spcPts val="0"/>
              </a:spcBef>
              <a:spcAft>
                <a:spcPts val="0"/>
              </a:spcAft>
              <a:buSzPct val="100000"/>
              <a:buChar char="●"/>
            </a:pPr>
            <a:r>
              <a:rPr lang="en" sz="1900">
                <a:solidFill>
                  <a:srgbClr val="C9DAF8"/>
                </a:solidFill>
              </a:rPr>
              <a:t>ADAPT </a:t>
            </a:r>
            <a:r>
              <a:rPr lang="en" sz="1900"/>
              <a:t>- </a:t>
            </a:r>
            <a:r>
              <a:rPr lang="en" sz="1900"/>
              <a:t>remix, transform, and build upon the material</a:t>
            </a:r>
            <a:endParaRPr sz="1900"/>
          </a:p>
          <a:p>
            <a:pPr indent="0" lvl="0" marL="0" rtl="0" algn="l">
              <a:spcBef>
                <a:spcPts val="1200"/>
              </a:spcBef>
              <a:spcAft>
                <a:spcPts val="0"/>
              </a:spcAft>
              <a:buNone/>
            </a:pPr>
            <a:r>
              <a:rPr lang="en" sz="1900"/>
              <a:t>Under the following terms:</a:t>
            </a:r>
            <a:endParaRPr sz="1900"/>
          </a:p>
          <a:p>
            <a:pPr indent="-322103" lvl="0" marL="457200" rtl="0" algn="l">
              <a:spcBef>
                <a:spcPts val="1200"/>
              </a:spcBef>
              <a:spcAft>
                <a:spcPts val="0"/>
              </a:spcAft>
              <a:buSzPct val="100000"/>
              <a:buChar char="●"/>
            </a:pPr>
            <a:r>
              <a:rPr lang="en" sz="1900">
                <a:solidFill>
                  <a:srgbClr val="C9DAF8"/>
                </a:solidFill>
              </a:rPr>
              <a:t>ATTRIBUTION </a:t>
            </a:r>
            <a:r>
              <a:rPr lang="en" sz="1900">
                <a:solidFill>
                  <a:schemeClr val="lt2"/>
                </a:solidFill>
              </a:rPr>
              <a:t>- You must give appropriate credit, provide a link to the license, and indicate if changes were made. You may do so in any reasonable manner, but not in any way that suggests the licensor endorses you or your use.</a:t>
            </a:r>
            <a:br>
              <a:rPr lang="en" sz="1900">
                <a:solidFill>
                  <a:schemeClr val="lt2"/>
                </a:solidFill>
              </a:rPr>
            </a:br>
            <a:endParaRPr sz="1900">
              <a:solidFill>
                <a:schemeClr val="lt2"/>
              </a:solidFill>
            </a:endParaRPr>
          </a:p>
          <a:p>
            <a:pPr indent="-322103" lvl="0" marL="457200" rtl="0" algn="l">
              <a:spcBef>
                <a:spcPts val="0"/>
              </a:spcBef>
              <a:spcAft>
                <a:spcPts val="0"/>
              </a:spcAft>
              <a:buSzPct val="100000"/>
              <a:buFont typeface="Arial"/>
              <a:buChar char="●"/>
            </a:pPr>
            <a:r>
              <a:rPr lang="en" sz="1900">
                <a:solidFill>
                  <a:srgbClr val="C9DAF8"/>
                </a:solidFill>
                <a:latin typeface="Arial"/>
                <a:ea typeface="Arial"/>
                <a:cs typeface="Arial"/>
                <a:sym typeface="Arial"/>
              </a:rPr>
              <a:t>NONCOMMERCIAL </a:t>
            </a:r>
            <a:r>
              <a:rPr lang="en" sz="1900">
                <a:latin typeface="Arial"/>
                <a:ea typeface="Arial"/>
                <a:cs typeface="Arial"/>
                <a:sym typeface="Arial"/>
              </a:rPr>
              <a:t>-  You may not use the material for commercial purposes. </a:t>
            </a:r>
            <a:endParaRPr sz="1600"/>
          </a:p>
        </p:txBody>
      </p:sp>
      <p:sp>
        <p:nvSpPr>
          <p:cNvPr id="85" name="Google Shape;85;p16"/>
          <p:cNvSpPr txBox="1"/>
          <p:nvPr/>
        </p:nvSpPr>
        <p:spPr>
          <a:xfrm>
            <a:off x="5225100" y="4353479"/>
            <a:ext cx="3607200" cy="4824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2400"/>
              </a:spcBef>
              <a:spcAft>
                <a:spcPts val="600"/>
              </a:spcAft>
              <a:buNone/>
            </a:pPr>
            <a:r>
              <a:rPr b="1" lang="en" sz="900">
                <a:solidFill>
                  <a:schemeClr val="accent3"/>
                </a:solidFill>
              </a:rPr>
              <a:t>Attribution-NonCommercial 4.0 International Deed:  </a:t>
            </a:r>
            <a:br>
              <a:rPr b="1" lang="en" sz="900">
                <a:solidFill>
                  <a:schemeClr val="accent3"/>
                </a:solidFill>
              </a:rPr>
            </a:br>
            <a:r>
              <a:rPr lang="en" sz="900">
                <a:solidFill>
                  <a:srgbClr val="C9DAF8"/>
                </a:solidFill>
                <a:latin typeface="Average"/>
                <a:ea typeface="Average"/>
                <a:cs typeface="Average"/>
                <a:sym typeface="Average"/>
              </a:rPr>
              <a:t>https://creativecommons.org/licenses/by-nc/4.0/</a:t>
            </a:r>
            <a:endParaRPr sz="1100">
              <a:solidFill>
                <a:srgbClr val="C9DAF8"/>
              </a:solidFill>
              <a:latin typeface="Average"/>
              <a:ea typeface="Average"/>
              <a:cs typeface="Average"/>
              <a:sym typeface="Average"/>
            </a:endParaRPr>
          </a:p>
        </p:txBody>
      </p:sp>
      <p:sp>
        <p:nvSpPr>
          <p:cNvPr id="86" name="Google Shape;86;p1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INTRODUCTIONS</a:t>
            </a:r>
            <a:endParaRPr/>
          </a:p>
        </p:txBody>
      </p:sp>
      <p:sp>
        <p:nvSpPr>
          <p:cNvPr id="92" name="Google Shape;92;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 THE FUCK IS BANJO FOX!?</a:t>
            </a:r>
            <a:endParaRPr/>
          </a:p>
        </p:txBody>
      </p:sp>
      <p:sp>
        <p:nvSpPr>
          <p:cNvPr id="98" name="Google Shape;98;p18"/>
          <p:cNvSpPr txBox="1"/>
          <p:nvPr>
            <p:ph idx="1" type="body"/>
          </p:nvPr>
        </p:nvSpPr>
        <p:spPr>
          <a:xfrm>
            <a:off x="311700" y="1094775"/>
            <a:ext cx="8520600" cy="3583500"/>
          </a:xfrm>
          <a:prstGeom prst="rect">
            <a:avLst/>
          </a:prstGeom>
        </p:spPr>
        <p:txBody>
          <a:bodyPr anchorCtr="0" anchor="t" bIns="91425" lIns="91425" spcFirstLastPara="1" rIns="91425" wrap="square" tIns="91425">
            <a:noAutofit/>
          </a:bodyPr>
          <a:lstStyle/>
          <a:p>
            <a:pPr indent="-323532" lvl="0" marL="457200" rtl="0" algn="l">
              <a:lnSpc>
                <a:spcPct val="140000"/>
              </a:lnSpc>
              <a:spcBef>
                <a:spcPts val="0"/>
              </a:spcBef>
              <a:spcAft>
                <a:spcPts val="0"/>
              </a:spcAft>
              <a:buSzPts val="1495"/>
              <a:buChar char="●"/>
            </a:pPr>
            <a:r>
              <a:rPr lang="en" sz="1495"/>
              <a:t>FetLife Member since 2008</a:t>
            </a:r>
            <a:endParaRPr sz="1495"/>
          </a:p>
          <a:p>
            <a:pPr indent="-323532" lvl="0" marL="457200" rtl="0" algn="l">
              <a:lnSpc>
                <a:spcPct val="140000"/>
              </a:lnSpc>
              <a:spcBef>
                <a:spcPts val="0"/>
              </a:spcBef>
              <a:spcAft>
                <a:spcPts val="0"/>
              </a:spcAft>
              <a:buSzPts val="1495"/>
              <a:buChar char="●"/>
            </a:pPr>
            <a:r>
              <a:rPr lang="en" sz="1495"/>
              <a:t>Dungeon Monitor since 2022</a:t>
            </a:r>
            <a:endParaRPr sz="1495"/>
          </a:p>
          <a:p>
            <a:pPr indent="-323532" lvl="0" marL="457200" rtl="0" algn="l">
              <a:lnSpc>
                <a:spcPct val="140000"/>
              </a:lnSpc>
              <a:spcBef>
                <a:spcPts val="0"/>
              </a:spcBef>
              <a:spcAft>
                <a:spcPts val="0"/>
              </a:spcAft>
              <a:buSzPts val="1495"/>
              <a:buChar char="●"/>
            </a:pPr>
            <a:r>
              <a:rPr lang="en" sz="1495"/>
              <a:t>Service-Type Kinkster</a:t>
            </a:r>
            <a:endParaRPr sz="1495"/>
          </a:p>
          <a:p>
            <a:pPr indent="-323532" lvl="0" marL="457200" rtl="0" algn="l">
              <a:lnSpc>
                <a:spcPct val="140000"/>
              </a:lnSpc>
              <a:spcBef>
                <a:spcPts val="0"/>
              </a:spcBef>
              <a:spcAft>
                <a:spcPts val="0"/>
              </a:spcAft>
              <a:buSzPts val="1495"/>
              <a:buChar char="●"/>
            </a:pPr>
            <a:r>
              <a:rPr lang="en" sz="1495"/>
              <a:t>Educator Always</a:t>
            </a:r>
            <a:endParaRPr sz="1495"/>
          </a:p>
          <a:p>
            <a:pPr indent="-323532" lvl="0" marL="457200" rtl="0" algn="l">
              <a:lnSpc>
                <a:spcPct val="140000"/>
              </a:lnSpc>
              <a:spcBef>
                <a:spcPts val="0"/>
              </a:spcBef>
              <a:spcAft>
                <a:spcPts val="0"/>
              </a:spcAft>
              <a:buSzPts val="1495"/>
              <a:buChar char="●"/>
            </a:pPr>
            <a:r>
              <a:rPr lang="en" sz="1495"/>
              <a:t>Toy Maker</a:t>
            </a:r>
            <a:endParaRPr sz="1495"/>
          </a:p>
          <a:p>
            <a:pPr indent="-323532" lvl="0" marL="457200" rtl="0" algn="l">
              <a:lnSpc>
                <a:spcPct val="140000"/>
              </a:lnSpc>
              <a:spcBef>
                <a:spcPts val="0"/>
              </a:spcBef>
              <a:spcAft>
                <a:spcPts val="0"/>
              </a:spcAft>
              <a:buSzPts val="1495"/>
              <a:buChar char="●"/>
            </a:pPr>
            <a:r>
              <a:rPr lang="en" sz="1495"/>
              <a:t>Founder of the Safety Third Organization</a:t>
            </a:r>
            <a:endParaRPr sz="1495"/>
          </a:p>
          <a:p>
            <a:pPr indent="0" lvl="0" marL="0" rtl="0" algn="l">
              <a:lnSpc>
                <a:spcPct val="105000"/>
              </a:lnSpc>
              <a:spcBef>
                <a:spcPts val="1200"/>
              </a:spcBef>
              <a:spcAft>
                <a:spcPts val="0"/>
              </a:spcAft>
              <a:buSzPts val="852"/>
              <a:buNone/>
            </a:pPr>
            <a:r>
              <a:rPr lang="en" sz="1695"/>
              <a:t>Outside of Kink?</a:t>
            </a:r>
            <a:endParaRPr sz="1695"/>
          </a:p>
          <a:p>
            <a:pPr indent="-323532" lvl="0" marL="457200" rtl="0" algn="l">
              <a:lnSpc>
                <a:spcPct val="140000"/>
              </a:lnSpc>
              <a:spcBef>
                <a:spcPts val="1200"/>
              </a:spcBef>
              <a:spcAft>
                <a:spcPts val="0"/>
              </a:spcAft>
              <a:buSzPts val="1495"/>
              <a:buChar char="●"/>
            </a:pPr>
            <a:r>
              <a:rPr lang="en" sz="1495"/>
              <a:t>IT Security Professional</a:t>
            </a:r>
            <a:endParaRPr sz="1495"/>
          </a:p>
          <a:p>
            <a:pPr indent="-323532" lvl="0" marL="457200" rtl="0" algn="l">
              <a:lnSpc>
                <a:spcPct val="140000"/>
              </a:lnSpc>
              <a:spcBef>
                <a:spcPts val="0"/>
              </a:spcBef>
              <a:spcAft>
                <a:spcPts val="0"/>
              </a:spcAft>
              <a:buSzPts val="1495"/>
              <a:buChar char="●"/>
            </a:pPr>
            <a:r>
              <a:rPr lang="en" sz="1495"/>
              <a:t>Open-Source, and Privacy Enthusiast</a:t>
            </a:r>
            <a:endParaRPr sz="1495"/>
          </a:p>
          <a:p>
            <a:pPr indent="-323532" lvl="0" marL="457200" rtl="0" algn="l">
              <a:lnSpc>
                <a:spcPct val="140000"/>
              </a:lnSpc>
              <a:spcBef>
                <a:spcPts val="0"/>
              </a:spcBef>
              <a:spcAft>
                <a:spcPts val="0"/>
              </a:spcAft>
              <a:buSzPts val="1495"/>
              <a:buChar char="●"/>
            </a:pPr>
            <a:r>
              <a:rPr lang="en" sz="1495"/>
              <a:t>DIY Guy</a:t>
            </a:r>
            <a:endParaRPr sz="1495"/>
          </a:p>
        </p:txBody>
      </p:sp>
      <p:sp>
        <p:nvSpPr>
          <p:cNvPr id="99" name="Google Shape;99;p1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IN THE CORNBREAD HELL IS SAFETY THIRD?!?!</a:t>
            </a:r>
            <a:endParaRPr/>
          </a:p>
        </p:txBody>
      </p:sp>
      <p:sp>
        <p:nvSpPr>
          <p:cNvPr id="105" name="Google Shape;105;p19"/>
          <p:cNvSpPr txBox="1"/>
          <p:nvPr>
            <p:ph idx="1" type="body"/>
          </p:nvPr>
        </p:nvSpPr>
        <p:spPr>
          <a:xfrm>
            <a:off x="311700" y="1152475"/>
            <a:ext cx="8520600" cy="3613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As a philosophy*</a:t>
            </a:r>
            <a:br>
              <a:rPr lang="en"/>
            </a:br>
            <a:endParaRPr/>
          </a:p>
          <a:p>
            <a:pPr indent="0" lvl="0" marL="0" rtl="0" algn="ctr">
              <a:spcBef>
                <a:spcPts val="1200"/>
              </a:spcBef>
              <a:spcAft>
                <a:spcPts val="0"/>
              </a:spcAft>
              <a:buNone/>
            </a:pPr>
            <a:r>
              <a:rPr lang="en" sz="2100">
                <a:solidFill>
                  <a:srgbClr val="FFF2CC"/>
                </a:solidFill>
              </a:rPr>
              <a:t>“Safety Third is a philosophy that makes allowances for risky behavior and also encourages individuals to be responsible for their own safety.” </a:t>
            </a:r>
            <a:br>
              <a:rPr lang="en" sz="2100">
                <a:solidFill>
                  <a:srgbClr val="FFF2CC"/>
                </a:solidFill>
              </a:rPr>
            </a:br>
            <a:r>
              <a:rPr lang="en" sz="2100">
                <a:solidFill>
                  <a:srgbClr val="FFF2CC"/>
                </a:solidFill>
              </a:rPr>
              <a:t>- Banjo Fox</a:t>
            </a:r>
            <a:endParaRPr sz="2100">
              <a:solidFill>
                <a:srgbClr val="FFF2CC"/>
              </a:solidFill>
            </a:endParaRPr>
          </a:p>
          <a:p>
            <a:pPr indent="0" lvl="0" marL="0" rtl="0" algn="l">
              <a:spcBef>
                <a:spcPts val="1200"/>
              </a:spcBef>
              <a:spcAft>
                <a:spcPts val="0"/>
              </a:spcAft>
              <a:buNone/>
            </a:pPr>
            <a:r>
              <a:rPr lang="en"/>
              <a:t>As an organization</a:t>
            </a:r>
            <a:endParaRPr/>
          </a:p>
          <a:p>
            <a:pPr indent="0" lvl="0" marL="0" rtl="0" algn="ctr">
              <a:spcBef>
                <a:spcPts val="1200"/>
              </a:spcBef>
              <a:spcAft>
                <a:spcPts val="0"/>
              </a:spcAft>
              <a:buNone/>
            </a:pPr>
            <a:r>
              <a:rPr lang="en" sz="2000">
                <a:solidFill>
                  <a:srgbClr val="FFF2CC"/>
                </a:solidFill>
              </a:rPr>
              <a:t>Safety Third (the organization) aims to be a resource to provide free, and open-source educational materials for the kink community.</a:t>
            </a:r>
            <a:endParaRPr sz="2000">
              <a:solidFill>
                <a:srgbClr val="FFF2CC"/>
              </a:solidFill>
            </a:endParaRPr>
          </a:p>
          <a:p>
            <a:pPr indent="0" lvl="0" marL="0" rtl="0" algn="l">
              <a:spcBef>
                <a:spcPts val="1200"/>
              </a:spcBef>
              <a:spcAft>
                <a:spcPts val="0"/>
              </a:spcAft>
              <a:buNone/>
            </a:pPr>
            <a:r>
              <a:t/>
            </a:r>
            <a:endParaRPr sz="2000"/>
          </a:p>
          <a:p>
            <a:pPr indent="0" lvl="0" marL="0" rtl="0" algn="r">
              <a:spcBef>
                <a:spcPts val="1200"/>
              </a:spcBef>
              <a:spcAft>
                <a:spcPts val="1200"/>
              </a:spcAft>
              <a:buNone/>
            </a:pPr>
            <a:r>
              <a:rPr lang="en" sz="1400"/>
              <a:t>*Based on the o</a:t>
            </a:r>
            <a:r>
              <a:rPr lang="en" sz="1400"/>
              <a:t>riginal</a:t>
            </a:r>
            <a:r>
              <a:rPr lang="en" sz="1400"/>
              <a:t> concept by Mike Rowe (as from Dirty Jobs)</a:t>
            </a:r>
            <a:endParaRPr sz="1400"/>
          </a:p>
        </p:txBody>
      </p:sp>
      <p:sp>
        <p:nvSpPr>
          <p:cNvPr id="106" name="Google Shape;106;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SAFETY THIRD?</a:t>
            </a:r>
            <a:endParaRPr/>
          </a:p>
        </p:txBody>
      </p:sp>
      <p:sp>
        <p:nvSpPr>
          <p:cNvPr id="112" name="Google Shape;112;p20"/>
          <p:cNvSpPr txBox="1"/>
          <p:nvPr>
            <p:ph idx="1" type="body"/>
          </p:nvPr>
        </p:nvSpPr>
        <p:spPr>
          <a:xfrm>
            <a:off x="311700" y="1152475"/>
            <a:ext cx="8520600" cy="36501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From the man himself:</a:t>
            </a:r>
            <a:br>
              <a:rPr lang="en"/>
            </a:br>
            <a:br>
              <a:rPr lang="en"/>
            </a:br>
            <a:r>
              <a:rPr lang="en" sz="2200">
                <a:solidFill>
                  <a:schemeClr val="lt2"/>
                </a:solidFill>
              </a:rPr>
              <a:t>“...Safety is not a thing to be “ranked,” but rather, a state of mind, to be applied as needed to a myriad of situations in varying amounts.</a:t>
            </a:r>
            <a:r>
              <a:rPr lang="en" sz="2200"/>
              <a:t> But if we were to rank it, it would rarely be “first.” </a:t>
            </a:r>
            <a:r>
              <a:rPr lang="en" sz="2200">
                <a:solidFill>
                  <a:srgbClr val="C9DAF8"/>
                </a:solidFill>
              </a:rPr>
              <a:t>Were safety truly “first,” no level of risk would ever be encouraged or permitted, and no work would ever get done. Or play for that matter.”</a:t>
            </a:r>
            <a:r>
              <a:rPr lang="en" sz="2200"/>
              <a:t> - Mike Rowe</a:t>
            </a:r>
            <a:br>
              <a:rPr lang="en" sz="2200"/>
            </a:br>
            <a:endParaRPr sz="2100"/>
          </a:p>
          <a:p>
            <a:pPr indent="0" lvl="0" marL="0" rtl="0" algn="r">
              <a:spcBef>
                <a:spcPts val="1200"/>
              </a:spcBef>
              <a:spcAft>
                <a:spcPts val="1200"/>
              </a:spcAft>
              <a:buNone/>
            </a:pPr>
            <a:r>
              <a:rPr lang="en" sz="1232"/>
              <a:t>Mike Rowe (2020) - Walk me through this “Safety Third” thing</a:t>
            </a:r>
            <a:br>
              <a:rPr lang="en" sz="1232"/>
            </a:br>
            <a:r>
              <a:rPr lang="en" sz="1232">
                <a:solidFill>
                  <a:srgbClr val="CFE2F3"/>
                </a:solidFill>
              </a:rPr>
              <a:t>https://mikerowe.com/2020/03/walk-me-through-this-safety-third-thing/</a:t>
            </a:r>
            <a:endParaRPr sz="1232">
              <a:solidFill>
                <a:srgbClr val="CFE2F3"/>
              </a:solidFill>
            </a:endParaRPr>
          </a:p>
        </p:txBody>
      </p:sp>
      <p:sp>
        <p:nvSpPr>
          <p:cNvPr id="113" name="Google Shape;113;p2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Terminology Review</a:t>
            </a:r>
            <a:endParaRPr/>
          </a:p>
        </p:txBody>
      </p:sp>
      <p:sp>
        <p:nvSpPr>
          <p:cNvPr id="119" name="Google Shape;119;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KINK: DEFINED BROADLY</a:t>
            </a:r>
            <a:endParaRPr/>
          </a:p>
        </p:txBody>
      </p:sp>
      <p:sp>
        <p:nvSpPr>
          <p:cNvPr id="125" name="Google Shape;125;p22"/>
          <p:cNvSpPr txBox="1"/>
          <p:nvPr>
            <p:ph idx="1" type="body"/>
          </p:nvPr>
        </p:nvSpPr>
        <p:spPr>
          <a:xfrm>
            <a:off x="311700" y="11450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Definitions so that we can talk in the same language.</a:t>
            </a:r>
            <a:endParaRPr/>
          </a:p>
          <a:p>
            <a:pPr indent="0" lvl="0" marL="0" rtl="0" algn="l">
              <a:spcBef>
                <a:spcPts val="1200"/>
              </a:spcBef>
              <a:spcAft>
                <a:spcPts val="0"/>
              </a:spcAft>
              <a:buNone/>
            </a:pPr>
            <a:r>
              <a:rPr lang="en" sz="2400">
                <a:solidFill>
                  <a:srgbClr val="A4C2F4"/>
                </a:solidFill>
              </a:rPr>
              <a:t>(Modern) </a:t>
            </a:r>
            <a:r>
              <a:rPr lang="en" sz="2400">
                <a:solidFill>
                  <a:srgbClr val="A4C2F4"/>
                </a:solidFill>
              </a:rPr>
              <a:t>Kink</a:t>
            </a:r>
            <a:r>
              <a:rPr lang="en"/>
              <a:t> - A broad range of activities in which one or more participants </a:t>
            </a:r>
            <a:r>
              <a:rPr lang="en"/>
              <a:t>engage in activities that are typically considered “</a:t>
            </a:r>
            <a:r>
              <a:rPr i="1" lang="en"/>
              <a:t>non-normative”</a:t>
            </a:r>
            <a:r>
              <a:rPr lang="en"/>
              <a:t>.</a:t>
            </a:r>
            <a:endParaRPr/>
          </a:p>
          <a:p>
            <a:pPr indent="0" lvl="0" marL="0" rtl="0" algn="l">
              <a:spcBef>
                <a:spcPts val="1200"/>
              </a:spcBef>
              <a:spcAft>
                <a:spcPts val="0"/>
              </a:spcAft>
              <a:buNone/>
            </a:pPr>
            <a:r>
              <a:rPr lang="en" sz="2400">
                <a:solidFill>
                  <a:srgbClr val="A4C2F4"/>
                </a:solidFill>
              </a:rPr>
              <a:t>Munch </a:t>
            </a:r>
            <a:r>
              <a:rPr lang="en"/>
              <a:t>- A gathering at a </a:t>
            </a:r>
            <a:r>
              <a:rPr i="1" lang="en"/>
              <a:t>public</a:t>
            </a:r>
            <a:r>
              <a:rPr lang="en"/>
              <a:t> space, often a bar/</a:t>
            </a:r>
            <a:r>
              <a:rPr lang="en"/>
              <a:t>restaurant, that allows individuals to participate in casual conversation, and meet others.</a:t>
            </a:r>
            <a:endParaRPr/>
          </a:p>
          <a:p>
            <a:pPr indent="0" lvl="0" marL="0" rtl="0" algn="l">
              <a:spcBef>
                <a:spcPts val="1200"/>
              </a:spcBef>
              <a:spcAft>
                <a:spcPts val="0"/>
              </a:spcAft>
              <a:buNone/>
            </a:pPr>
            <a:r>
              <a:rPr lang="en" sz="2400">
                <a:solidFill>
                  <a:srgbClr val="A4C2F4"/>
                </a:solidFill>
              </a:rPr>
              <a:t>Dungeon/Playspace</a:t>
            </a:r>
            <a:r>
              <a:rPr lang="en"/>
              <a:t> - </a:t>
            </a:r>
            <a:r>
              <a:rPr lang="en"/>
              <a:t>Synonymous terms for a physical space where individuals are able to partake in kinky activities.</a:t>
            </a:r>
            <a:r>
              <a:rPr lang="en"/>
              <a:t> </a:t>
            </a:r>
            <a:endParaRPr/>
          </a:p>
          <a:p>
            <a:pPr indent="0" lvl="0" marL="0" rtl="0" algn="l">
              <a:spcBef>
                <a:spcPts val="1200"/>
              </a:spcBef>
              <a:spcAft>
                <a:spcPts val="1200"/>
              </a:spcAft>
              <a:buNone/>
            </a:pPr>
            <a:r>
              <a:rPr lang="en" sz="2400">
                <a:solidFill>
                  <a:srgbClr val="A4C2F4"/>
                </a:solidFill>
              </a:rPr>
              <a:t>Play </a:t>
            </a:r>
            <a:r>
              <a:rPr lang="en"/>
              <a:t>- The act of partaking in a kinky activity.</a:t>
            </a:r>
            <a:endParaRPr/>
          </a:p>
        </p:txBody>
      </p:sp>
      <p:sp>
        <p:nvSpPr>
          <p:cNvPr id="126" name="Google Shape;126;p2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KINK: DEFINED IN MORE DETAILS</a:t>
            </a:r>
            <a:endParaRPr/>
          </a:p>
          <a:p>
            <a:pPr indent="0" lvl="0" marL="0" rtl="0" algn="l">
              <a:spcBef>
                <a:spcPts val="0"/>
              </a:spcBef>
              <a:spcAft>
                <a:spcPts val="0"/>
              </a:spcAft>
              <a:buNone/>
            </a:pPr>
            <a:r>
              <a:t/>
            </a:r>
            <a:endParaRPr/>
          </a:p>
        </p:txBody>
      </p:sp>
      <p:sp>
        <p:nvSpPr>
          <p:cNvPr id="132" name="Google Shape;132;p23"/>
          <p:cNvSpPr txBox="1"/>
          <p:nvPr>
            <p:ph idx="1" type="body"/>
          </p:nvPr>
        </p:nvSpPr>
        <p:spPr>
          <a:xfrm>
            <a:off x="311700" y="1141163"/>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 and in slightly more detail.</a:t>
            </a:r>
            <a:endParaRPr/>
          </a:p>
          <a:p>
            <a:pPr indent="0" lvl="0" marL="0" rtl="0" algn="l">
              <a:spcBef>
                <a:spcPts val="1200"/>
              </a:spcBef>
              <a:spcAft>
                <a:spcPts val="0"/>
              </a:spcAft>
              <a:buNone/>
            </a:pPr>
            <a:r>
              <a:rPr lang="en" sz="2400">
                <a:solidFill>
                  <a:srgbClr val="A4C2F4"/>
                </a:solidFill>
              </a:rPr>
              <a:t>Roles</a:t>
            </a:r>
            <a:r>
              <a:rPr lang="en">
                <a:solidFill>
                  <a:srgbClr val="A4C2F4"/>
                </a:solidFill>
              </a:rPr>
              <a:t> </a:t>
            </a:r>
            <a:r>
              <a:rPr lang="en"/>
              <a:t>- A </a:t>
            </a:r>
            <a:r>
              <a:rPr lang="en"/>
              <a:t>loosely</a:t>
            </a:r>
            <a:r>
              <a:rPr lang="en"/>
              <a:t>-defined part taken on by </a:t>
            </a:r>
            <a:r>
              <a:rPr lang="en"/>
              <a:t>individuals</a:t>
            </a:r>
            <a:r>
              <a:rPr lang="en"/>
              <a:t> in particular social-settings.</a:t>
            </a:r>
            <a:endParaRPr/>
          </a:p>
          <a:p>
            <a:pPr indent="0" lvl="0" marL="0" rtl="0" algn="l">
              <a:spcBef>
                <a:spcPts val="1200"/>
              </a:spcBef>
              <a:spcAft>
                <a:spcPts val="0"/>
              </a:spcAft>
              <a:buNone/>
            </a:pPr>
            <a:r>
              <a:rPr lang="en" sz="2400">
                <a:solidFill>
                  <a:srgbClr val="A4C2F4"/>
                </a:solidFill>
              </a:rPr>
              <a:t>Negotiation</a:t>
            </a:r>
            <a:r>
              <a:rPr lang="en"/>
              <a:t> -  Mutual discussion about the terms of a particular scene in which the participants establish rules, boundaries, and share expectations.</a:t>
            </a:r>
            <a:endParaRPr/>
          </a:p>
          <a:p>
            <a:pPr indent="0" lvl="0" marL="0" rtl="0" algn="l">
              <a:spcBef>
                <a:spcPts val="1200"/>
              </a:spcBef>
              <a:spcAft>
                <a:spcPts val="0"/>
              </a:spcAft>
              <a:buNone/>
            </a:pPr>
            <a:r>
              <a:rPr lang="en" sz="2400">
                <a:solidFill>
                  <a:srgbClr val="A4C2F4"/>
                </a:solidFill>
              </a:rPr>
              <a:t>Consent</a:t>
            </a:r>
            <a:r>
              <a:rPr lang="en">
                <a:solidFill>
                  <a:srgbClr val="A4C2F4"/>
                </a:solidFill>
              </a:rPr>
              <a:t> </a:t>
            </a:r>
            <a:r>
              <a:rPr lang="en"/>
              <a:t>- Agreement between parties regarding a negotiated set of boundaries.</a:t>
            </a:r>
            <a:endParaRPr/>
          </a:p>
          <a:p>
            <a:pPr indent="0" lvl="0" marL="0" rtl="0" algn="l">
              <a:spcBef>
                <a:spcPts val="1200"/>
              </a:spcBef>
              <a:spcAft>
                <a:spcPts val="0"/>
              </a:spcAft>
              <a:buNone/>
            </a:pPr>
            <a:r>
              <a:rPr lang="en" sz="2400">
                <a:solidFill>
                  <a:srgbClr val="A4C2F4"/>
                </a:solidFill>
              </a:rPr>
              <a:t>Scene</a:t>
            </a:r>
            <a:r>
              <a:rPr lang="en">
                <a:solidFill>
                  <a:srgbClr val="A4C2F4"/>
                </a:solidFill>
              </a:rPr>
              <a:t> </a:t>
            </a:r>
            <a:r>
              <a:rPr lang="en"/>
              <a:t>- A period of time in </a:t>
            </a:r>
            <a:r>
              <a:rPr lang="en"/>
              <a:t>which</a:t>
            </a:r>
            <a:r>
              <a:rPr lang="en"/>
              <a:t> one or more participants engage in a kinky activity.  </a:t>
            </a:r>
            <a:endParaRPr/>
          </a:p>
          <a:p>
            <a:pPr indent="0" lvl="0" marL="0" rtl="0" algn="l">
              <a:spcBef>
                <a:spcPts val="1200"/>
              </a:spcBef>
              <a:spcAft>
                <a:spcPts val="1200"/>
              </a:spcAft>
              <a:buNone/>
            </a:pPr>
            <a:r>
              <a:rPr lang="en" sz="2550">
                <a:solidFill>
                  <a:srgbClr val="A4C2F4"/>
                </a:solidFill>
              </a:rPr>
              <a:t>Aftercare</a:t>
            </a:r>
            <a:r>
              <a:rPr lang="en">
                <a:solidFill>
                  <a:srgbClr val="A4C2F4"/>
                </a:solidFill>
              </a:rPr>
              <a:t> </a:t>
            </a:r>
            <a:r>
              <a:rPr lang="en"/>
              <a:t>- The time after a scene which participants in the scene use to recover from the activity.</a:t>
            </a:r>
            <a:endParaRPr/>
          </a:p>
        </p:txBody>
      </p:sp>
      <p:sp>
        <p:nvSpPr>
          <p:cNvPr id="133" name="Google Shape;133;p2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is Kink?</a:t>
            </a:r>
            <a:endParaRPr/>
          </a:p>
        </p:txBody>
      </p:sp>
      <p:sp>
        <p:nvSpPr>
          <p:cNvPr id="139" name="Google Shape;139;p24"/>
          <p:cNvSpPr txBox="1"/>
          <p:nvPr>
            <p:ph idx="4294967295"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 But first… )</a:t>
            </a:r>
            <a:endParaRPr/>
          </a:p>
        </p:txBody>
      </p:sp>
      <p:sp>
        <p:nvSpPr>
          <p:cNvPr id="140" name="Google Shape;140;p2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SCARY DOOR</a:t>
            </a:r>
            <a:endParaRPr/>
          </a:p>
        </p:txBody>
      </p:sp>
      <p:pic>
        <p:nvPicPr>
          <p:cNvPr id="146" name="Google Shape;146;p25" title="vecteezy_a-dimly-lit-wooden-door-surrounded-by-cobwebs-in-a-secluded_51128559.jpeg"/>
          <p:cNvPicPr preferRelativeResize="0"/>
          <p:nvPr/>
        </p:nvPicPr>
        <p:blipFill>
          <a:blip r:embed="rId3">
            <a:alphaModFix/>
          </a:blip>
          <a:stretch>
            <a:fillRect/>
          </a:stretch>
        </p:blipFill>
        <p:spPr>
          <a:xfrm>
            <a:off x="753600" y="1017725"/>
            <a:ext cx="7636803" cy="3663274"/>
          </a:xfrm>
          <a:prstGeom prst="rect">
            <a:avLst/>
          </a:prstGeom>
          <a:noFill/>
          <a:ln>
            <a:noFill/>
          </a:ln>
        </p:spPr>
      </p:pic>
      <p:sp>
        <p:nvSpPr>
          <p:cNvPr id="147" name="Google Shape;147;p25"/>
          <p:cNvSpPr txBox="1"/>
          <p:nvPr/>
        </p:nvSpPr>
        <p:spPr>
          <a:xfrm>
            <a:off x="7035625" y="4716250"/>
            <a:ext cx="1704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2"/>
                </a:solidFill>
                <a:latin typeface="Oswald"/>
                <a:ea typeface="Oswald"/>
                <a:cs typeface="Oswald"/>
                <a:sym typeface="Oswald"/>
              </a:rPr>
              <a:t>Image by Oleg Gapeenko (Vecteezy)</a:t>
            </a:r>
            <a:endParaRPr sz="900">
              <a:solidFill>
                <a:schemeClr val="lt2"/>
              </a:solidFill>
              <a:latin typeface="Oswald"/>
              <a:ea typeface="Oswald"/>
              <a:cs typeface="Oswald"/>
              <a:sym typeface="Oswald"/>
            </a:endParaRPr>
          </a:p>
        </p:txBody>
      </p:sp>
      <p:sp>
        <p:nvSpPr>
          <p:cNvPr id="148" name="Google Shape;148;p2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445025"/>
            <a:ext cx="7787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BEHIND THE SCARY DOOR</a:t>
            </a:r>
            <a:endParaRPr/>
          </a:p>
        </p:txBody>
      </p:sp>
      <p:sp>
        <p:nvSpPr>
          <p:cNvPr id="154" name="Google Shape;154;p26"/>
          <p:cNvSpPr txBox="1"/>
          <p:nvPr/>
        </p:nvSpPr>
        <p:spPr>
          <a:xfrm>
            <a:off x="562500" y="1644500"/>
            <a:ext cx="8019000" cy="2567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7200">
                <a:solidFill>
                  <a:schemeClr val="dk1"/>
                </a:solidFill>
                <a:latin typeface="Impact"/>
                <a:ea typeface="Impact"/>
                <a:cs typeface="Impact"/>
                <a:sym typeface="Impact"/>
              </a:rPr>
              <a:t>THE ONE </a:t>
            </a:r>
            <a:br>
              <a:rPr lang="en" sz="7200">
                <a:solidFill>
                  <a:schemeClr val="dk1"/>
                </a:solidFill>
                <a:latin typeface="Impact"/>
                <a:ea typeface="Impact"/>
                <a:cs typeface="Impact"/>
                <a:sym typeface="Impact"/>
              </a:rPr>
            </a:br>
            <a:r>
              <a:rPr lang="en" sz="7200">
                <a:solidFill>
                  <a:schemeClr val="dk1"/>
                </a:solidFill>
                <a:latin typeface="Impact"/>
                <a:ea typeface="Impact"/>
                <a:cs typeface="Impact"/>
                <a:sym typeface="Impact"/>
              </a:rPr>
              <a:t>TWU WAY</a:t>
            </a:r>
            <a:endParaRPr sz="7200">
              <a:solidFill>
                <a:schemeClr val="dk1"/>
              </a:solidFill>
              <a:latin typeface="Impact"/>
              <a:ea typeface="Impact"/>
              <a:cs typeface="Impact"/>
              <a:sym typeface="Impact"/>
            </a:endParaRPr>
          </a:p>
        </p:txBody>
      </p:sp>
      <p:sp>
        <p:nvSpPr>
          <p:cNvPr id="155" name="Google Shape;155;p26"/>
          <p:cNvSpPr txBox="1"/>
          <p:nvPr/>
        </p:nvSpPr>
        <p:spPr>
          <a:xfrm>
            <a:off x="7439600" y="4774200"/>
            <a:ext cx="1704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2"/>
                </a:solidFill>
                <a:latin typeface="Oswald"/>
                <a:ea typeface="Oswald"/>
                <a:cs typeface="Oswald"/>
                <a:sym typeface="Oswald"/>
              </a:rPr>
              <a:t>Image by Oleg Gapeenko (Vecteezy)</a:t>
            </a:r>
            <a:endParaRPr sz="900">
              <a:solidFill>
                <a:schemeClr val="lt2"/>
              </a:solidFill>
              <a:latin typeface="Oswald"/>
              <a:ea typeface="Oswald"/>
              <a:cs typeface="Oswald"/>
              <a:sym typeface="Oswald"/>
            </a:endParaRPr>
          </a:p>
        </p:txBody>
      </p:sp>
      <p:sp>
        <p:nvSpPr>
          <p:cNvPr id="156" name="Google Shape;156;p2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HERE BE DRAGONS (Explaining the Scary Door)</a:t>
            </a:r>
            <a:endParaRPr/>
          </a:p>
        </p:txBody>
      </p:sp>
      <p:sp>
        <p:nvSpPr>
          <p:cNvPr id="162" name="Google Shape;162;p27"/>
          <p:cNvSpPr txBox="1"/>
          <p:nvPr>
            <p:ph idx="1" type="body"/>
          </p:nvPr>
        </p:nvSpPr>
        <p:spPr>
          <a:xfrm>
            <a:off x="311700" y="1141163"/>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takes on “The one true way”</a:t>
            </a:r>
            <a:endParaRPr/>
          </a:p>
          <a:p>
            <a:pPr indent="-342900" lvl="0" marL="457200" rtl="0" algn="l">
              <a:spcBef>
                <a:spcPts val="1200"/>
              </a:spcBef>
              <a:spcAft>
                <a:spcPts val="0"/>
              </a:spcAft>
              <a:buSzPts val="1800"/>
              <a:buChar char="-"/>
            </a:pPr>
            <a:r>
              <a:rPr lang="en">
                <a:solidFill>
                  <a:srgbClr val="A4C2F4"/>
                </a:solidFill>
              </a:rPr>
              <a:t>RED FLAG</a:t>
            </a:r>
            <a:r>
              <a:rPr lang="en"/>
              <a:t> (probably)</a:t>
            </a:r>
            <a:endParaRPr/>
          </a:p>
          <a:p>
            <a:pPr indent="-317500" lvl="1" marL="914400" rtl="0" algn="l">
              <a:spcBef>
                <a:spcPts val="0"/>
              </a:spcBef>
              <a:spcAft>
                <a:spcPts val="0"/>
              </a:spcAft>
              <a:buSzPts val="1400"/>
              <a:buChar char="-"/>
            </a:pPr>
            <a:r>
              <a:rPr lang="en"/>
              <a:t>Folks that are “old guard” </a:t>
            </a:r>
            <a:endParaRPr/>
          </a:p>
          <a:p>
            <a:pPr indent="-317500" lvl="1" marL="914400" rtl="0" algn="l">
              <a:spcBef>
                <a:spcPts val="0"/>
              </a:spcBef>
              <a:spcAft>
                <a:spcPts val="0"/>
              </a:spcAft>
              <a:buSzPts val="1400"/>
              <a:buChar char="-"/>
            </a:pPr>
            <a:r>
              <a:rPr lang="en"/>
              <a:t>Stuck in their ways</a:t>
            </a:r>
            <a:endParaRPr/>
          </a:p>
          <a:p>
            <a:pPr indent="-317500" lvl="1" marL="914400" rtl="0" algn="l">
              <a:spcBef>
                <a:spcPts val="0"/>
              </a:spcBef>
              <a:spcAft>
                <a:spcPts val="0"/>
              </a:spcAft>
              <a:buSzPts val="1400"/>
              <a:buChar char="-"/>
            </a:pPr>
            <a:r>
              <a:rPr lang="en"/>
              <a:t>Not </a:t>
            </a:r>
            <a:r>
              <a:rPr lang="en"/>
              <a:t>inherently</a:t>
            </a:r>
            <a:r>
              <a:rPr lang="en"/>
              <a:t> unsafe, but probably not what you are looking for </a:t>
            </a:r>
            <a:br>
              <a:rPr lang="en"/>
            </a:br>
            <a:endParaRPr/>
          </a:p>
          <a:p>
            <a:pPr indent="-342900" lvl="0" marL="457200" rtl="0" algn="l">
              <a:spcBef>
                <a:spcPts val="0"/>
              </a:spcBef>
              <a:spcAft>
                <a:spcPts val="0"/>
              </a:spcAft>
              <a:buClr>
                <a:srgbClr val="A4C2F4"/>
              </a:buClr>
              <a:buSzPts val="1800"/>
              <a:buChar char="-"/>
            </a:pPr>
            <a:r>
              <a:rPr lang="en">
                <a:solidFill>
                  <a:srgbClr val="A4C2F4"/>
                </a:solidFill>
              </a:rPr>
              <a:t>Adopt, adapt, and improve</a:t>
            </a:r>
            <a:endParaRPr>
              <a:solidFill>
                <a:srgbClr val="A4C2F4"/>
              </a:solidFill>
            </a:endParaRPr>
          </a:p>
          <a:p>
            <a:pPr indent="-317500" lvl="1" marL="914400" rtl="0" algn="l">
              <a:spcBef>
                <a:spcPts val="0"/>
              </a:spcBef>
              <a:spcAft>
                <a:spcPts val="0"/>
              </a:spcAft>
              <a:buSzPts val="1400"/>
              <a:buChar char="-"/>
            </a:pPr>
            <a:r>
              <a:rPr lang="en"/>
              <a:t>Change the definition to: “</a:t>
            </a:r>
            <a:r>
              <a:rPr lang="en">
                <a:solidFill>
                  <a:srgbClr val="FFF2CC"/>
                </a:solidFill>
              </a:rPr>
              <a:t>The one true way to do kink is to make it my own.</a:t>
            </a:r>
            <a:r>
              <a:rPr lang="en"/>
              <a:t>”</a:t>
            </a:r>
            <a:endParaRPr/>
          </a:p>
          <a:p>
            <a:pPr indent="-317500" lvl="1" marL="914400" rtl="0" algn="l">
              <a:spcBef>
                <a:spcPts val="0"/>
              </a:spcBef>
              <a:spcAft>
                <a:spcPts val="0"/>
              </a:spcAft>
              <a:buSzPts val="1400"/>
              <a:buChar char="-"/>
            </a:pPr>
            <a:r>
              <a:rPr lang="en"/>
              <a:t>Individualized, personal, flexible</a:t>
            </a:r>
            <a:endParaRPr/>
          </a:p>
          <a:p>
            <a:pPr indent="-317500" lvl="1" marL="914400" rtl="0" algn="l">
              <a:spcBef>
                <a:spcPts val="0"/>
              </a:spcBef>
              <a:spcAft>
                <a:spcPts val="0"/>
              </a:spcAft>
              <a:buSzPts val="1400"/>
              <a:buChar char="-"/>
            </a:pPr>
            <a:r>
              <a:rPr lang="en"/>
              <a:t>Leaves room for improvement</a:t>
            </a:r>
            <a:endParaRPr/>
          </a:p>
        </p:txBody>
      </p:sp>
      <p:sp>
        <p:nvSpPr>
          <p:cNvPr id="163" name="Google Shape;163;p2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KINK…REALLY?</a:t>
            </a:r>
            <a:endParaRPr/>
          </a:p>
        </p:txBody>
      </p:sp>
      <p:sp>
        <p:nvSpPr>
          <p:cNvPr id="169" name="Google Shape;169;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A4C2F4"/>
                </a:solidFill>
              </a:rPr>
              <a:t>Community</a:t>
            </a:r>
            <a:br>
              <a:rPr b="1" lang="en" sz="1750">
                <a:solidFill>
                  <a:srgbClr val="A4C2F4"/>
                </a:solidFill>
              </a:rPr>
            </a:br>
            <a:r>
              <a:rPr b="1" lang="en" sz="1750">
                <a:solidFill>
                  <a:srgbClr val="A4C2F4"/>
                </a:solidFill>
              </a:rPr>
              <a:t>	</a:t>
            </a:r>
            <a:r>
              <a:rPr lang="en" sz="1400">
                <a:solidFill>
                  <a:srgbClr val="CCCCCC"/>
                </a:solidFill>
              </a:rPr>
              <a:t>- Socializing with like-minded folk</a:t>
            </a:r>
            <a:br>
              <a:rPr lang="en">
                <a:solidFill>
                  <a:srgbClr val="CCCCCC"/>
                </a:solidFill>
              </a:rPr>
            </a:br>
            <a:r>
              <a:rPr lang="en">
                <a:solidFill>
                  <a:srgbClr val="CCCCCC"/>
                </a:solidFill>
              </a:rPr>
              <a:t>	</a:t>
            </a:r>
            <a:r>
              <a:rPr lang="en" sz="1400">
                <a:solidFill>
                  <a:srgbClr val="CCCCCC"/>
                </a:solidFill>
              </a:rPr>
              <a:t>- Education/skill-sharing</a:t>
            </a:r>
            <a:endParaRPr>
              <a:solidFill>
                <a:srgbClr val="CCCCCC"/>
              </a:solidFill>
            </a:endParaRPr>
          </a:p>
          <a:p>
            <a:pPr indent="0" lvl="0" marL="0" rtl="0" algn="l">
              <a:spcBef>
                <a:spcPts val="1000"/>
              </a:spcBef>
              <a:spcAft>
                <a:spcPts val="0"/>
              </a:spcAft>
              <a:buNone/>
            </a:pPr>
            <a:r>
              <a:rPr lang="en" sz="1800">
                <a:solidFill>
                  <a:srgbClr val="A4C2F4"/>
                </a:solidFill>
              </a:rPr>
              <a:t>Lifestyle</a:t>
            </a:r>
            <a:br>
              <a:rPr b="1" lang="en" sz="1750">
                <a:solidFill>
                  <a:srgbClr val="A4C2F4"/>
                </a:solidFill>
              </a:rPr>
            </a:br>
            <a:r>
              <a:rPr b="1" lang="en" sz="1750">
                <a:solidFill>
                  <a:srgbClr val="A4C2F4"/>
                </a:solidFill>
              </a:rPr>
              <a:t>	</a:t>
            </a:r>
            <a:r>
              <a:rPr lang="en">
                <a:solidFill>
                  <a:srgbClr val="CCCCCC"/>
                </a:solidFill>
              </a:rPr>
              <a:t>- </a:t>
            </a:r>
            <a:r>
              <a:rPr lang="en" sz="1400">
                <a:solidFill>
                  <a:srgbClr val="CCCCCC"/>
                </a:solidFill>
              </a:rPr>
              <a:t>Some people just want to live it 24/7</a:t>
            </a:r>
            <a:br>
              <a:rPr lang="en">
                <a:solidFill>
                  <a:srgbClr val="CCCCCC"/>
                </a:solidFill>
              </a:rPr>
            </a:br>
            <a:r>
              <a:rPr lang="en" sz="1400">
                <a:solidFill>
                  <a:srgbClr val="CCCCCC"/>
                </a:solidFill>
              </a:rPr>
              <a:t>	- Form of structure</a:t>
            </a:r>
            <a:endParaRPr sz="1400">
              <a:solidFill>
                <a:srgbClr val="CCCCCC"/>
              </a:solidFill>
            </a:endParaRPr>
          </a:p>
          <a:p>
            <a:pPr indent="0" lvl="0" marL="0" rtl="0" algn="l">
              <a:spcBef>
                <a:spcPts val="1000"/>
              </a:spcBef>
              <a:spcAft>
                <a:spcPts val="1000"/>
              </a:spcAft>
              <a:buNone/>
            </a:pPr>
            <a:r>
              <a:rPr lang="en" sz="1800">
                <a:solidFill>
                  <a:srgbClr val="A4C2F4"/>
                </a:solidFill>
              </a:rPr>
              <a:t>Personal Expression</a:t>
            </a:r>
            <a:br>
              <a:rPr lang="en">
                <a:solidFill>
                  <a:srgbClr val="CCCCCC"/>
                </a:solidFill>
              </a:rPr>
            </a:br>
            <a:r>
              <a:rPr lang="en">
                <a:solidFill>
                  <a:srgbClr val="CCCCCC"/>
                </a:solidFill>
              </a:rPr>
              <a:t>	- </a:t>
            </a:r>
            <a:r>
              <a:rPr lang="en" sz="1400">
                <a:solidFill>
                  <a:srgbClr val="CCCCCC"/>
                </a:solidFill>
              </a:rPr>
              <a:t>Fetish wear</a:t>
            </a:r>
            <a:br>
              <a:rPr lang="en">
                <a:solidFill>
                  <a:srgbClr val="CCCCCC"/>
                </a:solidFill>
              </a:rPr>
            </a:br>
            <a:r>
              <a:rPr lang="en">
                <a:solidFill>
                  <a:srgbClr val="CCCCCC"/>
                </a:solidFill>
              </a:rPr>
              <a:t>	- G</a:t>
            </a:r>
            <a:r>
              <a:rPr lang="en" sz="1400">
                <a:solidFill>
                  <a:srgbClr val="CCCCCC"/>
                </a:solidFill>
              </a:rPr>
              <a:t>ender </a:t>
            </a:r>
            <a:r>
              <a:rPr lang="en" sz="1400">
                <a:solidFill>
                  <a:srgbClr val="CCCCCC"/>
                </a:solidFill>
              </a:rPr>
              <a:t>affirming</a:t>
            </a:r>
            <a:r>
              <a:rPr lang="en" sz="1400">
                <a:solidFill>
                  <a:srgbClr val="CCCCCC"/>
                </a:solidFill>
              </a:rPr>
              <a:t> outfits</a:t>
            </a:r>
            <a:endParaRPr>
              <a:solidFill>
                <a:srgbClr val="CCCCCC"/>
              </a:solidFill>
              <a:highlight>
                <a:srgbClr val="1F1F1F"/>
              </a:highlight>
            </a:endParaRPr>
          </a:p>
        </p:txBody>
      </p:sp>
      <p:sp>
        <p:nvSpPr>
          <p:cNvPr id="170" name="Google Shape;170;p28"/>
          <p:cNvSpPr txBox="1"/>
          <p:nvPr>
            <p:ph idx="2" type="body"/>
          </p:nvPr>
        </p:nvSpPr>
        <p:spPr>
          <a:xfrm>
            <a:off x="4738225"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A4C2F4"/>
                </a:solidFill>
              </a:rPr>
              <a:t>Hobby or Profession</a:t>
            </a:r>
            <a:br>
              <a:rPr b="1" lang="en" sz="1800">
                <a:solidFill>
                  <a:srgbClr val="A4C2F4"/>
                </a:solidFill>
              </a:rPr>
            </a:br>
            <a:r>
              <a:rPr b="1" lang="en" sz="1800">
                <a:solidFill>
                  <a:srgbClr val="A4C2F4"/>
                </a:solidFill>
              </a:rPr>
              <a:t>	</a:t>
            </a:r>
            <a:r>
              <a:rPr lang="en">
                <a:solidFill>
                  <a:srgbClr val="CCCCCC"/>
                </a:solidFill>
              </a:rPr>
              <a:t>- Toy making</a:t>
            </a:r>
            <a:br>
              <a:rPr lang="en">
                <a:solidFill>
                  <a:srgbClr val="CCCCCC"/>
                </a:solidFill>
              </a:rPr>
            </a:br>
            <a:r>
              <a:rPr lang="en">
                <a:solidFill>
                  <a:srgbClr val="CCCCCC"/>
                </a:solidFill>
              </a:rPr>
              <a:t>	- Professional services</a:t>
            </a:r>
            <a:endParaRPr>
              <a:solidFill>
                <a:srgbClr val="CCCCCC"/>
              </a:solidFill>
            </a:endParaRPr>
          </a:p>
          <a:p>
            <a:pPr indent="0" lvl="0" marL="0" rtl="0" algn="l">
              <a:spcBef>
                <a:spcPts val="1200"/>
              </a:spcBef>
              <a:spcAft>
                <a:spcPts val="1200"/>
              </a:spcAft>
              <a:buNone/>
            </a:pPr>
            <a:r>
              <a:rPr lang="en" sz="1800">
                <a:solidFill>
                  <a:srgbClr val="A4C2F4"/>
                </a:solidFill>
              </a:rPr>
              <a:t>Mental Health</a:t>
            </a:r>
            <a:br>
              <a:rPr lang="en" sz="1662">
                <a:solidFill>
                  <a:srgbClr val="FFF2CC"/>
                </a:solidFill>
              </a:rPr>
            </a:br>
            <a:r>
              <a:rPr lang="en" sz="1662">
                <a:solidFill>
                  <a:srgbClr val="FFF2CC"/>
                </a:solidFill>
              </a:rPr>
              <a:t>	</a:t>
            </a:r>
            <a:r>
              <a:rPr lang="en">
                <a:solidFill>
                  <a:srgbClr val="CCCCCC"/>
                </a:solidFill>
              </a:rPr>
              <a:t>- A means of “escape” (eg. “subspace”)</a:t>
            </a:r>
            <a:br>
              <a:rPr lang="en">
                <a:solidFill>
                  <a:srgbClr val="CCCCCC"/>
                </a:solidFill>
              </a:rPr>
            </a:br>
            <a:r>
              <a:rPr lang="en">
                <a:solidFill>
                  <a:srgbClr val="CCCCCC"/>
                </a:solidFill>
              </a:rPr>
              <a:t>	- Resolving Trauma</a:t>
            </a:r>
            <a:br>
              <a:rPr lang="en" sz="1262">
                <a:solidFill>
                  <a:srgbClr val="CCCCCC"/>
                </a:solidFill>
              </a:rPr>
            </a:br>
            <a:br>
              <a:rPr lang="en" sz="1262">
                <a:solidFill>
                  <a:srgbClr val="CCCCCC"/>
                </a:solidFill>
              </a:rPr>
            </a:br>
            <a:r>
              <a:rPr lang="en" sz="1800">
                <a:solidFill>
                  <a:srgbClr val="A4C2F4"/>
                </a:solidFill>
              </a:rPr>
              <a:t>Physical Therapy</a:t>
            </a:r>
            <a:br>
              <a:rPr lang="en" sz="1662">
                <a:solidFill>
                  <a:srgbClr val="A4C2F4"/>
                </a:solidFill>
              </a:rPr>
            </a:br>
            <a:r>
              <a:rPr lang="en" sz="1662">
                <a:solidFill>
                  <a:srgbClr val="A4C2F4"/>
                </a:solidFill>
              </a:rPr>
              <a:t>	</a:t>
            </a:r>
            <a:r>
              <a:rPr lang="en">
                <a:solidFill>
                  <a:srgbClr val="CCCCCC"/>
                </a:solidFill>
              </a:rPr>
              <a:t>- Fire Cupping</a:t>
            </a:r>
            <a:br>
              <a:rPr lang="en">
                <a:solidFill>
                  <a:srgbClr val="CCCCCC"/>
                </a:solidFill>
              </a:rPr>
            </a:br>
            <a:r>
              <a:rPr lang="en">
                <a:solidFill>
                  <a:srgbClr val="CCCCCC"/>
                </a:solidFill>
              </a:rPr>
              <a:t>	- Electro-stim</a:t>
            </a:r>
            <a:endParaRPr/>
          </a:p>
        </p:txBody>
      </p:sp>
      <p:sp>
        <p:nvSpPr>
          <p:cNvPr id="171" name="Google Shape;171;p2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KINK (cont.)</a:t>
            </a:r>
            <a:endParaRPr/>
          </a:p>
        </p:txBody>
      </p:sp>
      <p:sp>
        <p:nvSpPr>
          <p:cNvPr id="177" name="Google Shape;177;p29"/>
          <p:cNvSpPr txBox="1"/>
          <p:nvPr>
            <p:ph idx="1" type="body"/>
          </p:nvPr>
        </p:nvSpPr>
        <p:spPr>
          <a:xfrm>
            <a:off x="311700" y="1141163"/>
            <a:ext cx="85206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t>In practice:</a:t>
            </a:r>
            <a:endParaRPr sz="2000"/>
          </a:p>
          <a:p>
            <a:pPr indent="0" lvl="0" marL="0" rtl="0" algn="ctr">
              <a:spcBef>
                <a:spcPts val="1200"/>
              </a:spcBef>
              <a:spcAft>
                <a:spcPts val="0"/>
              </a:spcAft>
              <a:buNone/>
            </a:pPr>
            <a:r>
              <a:rPr lang="en" sz="2700">
                <a:solidFill>
                  <a:srgbClr val="FFF2CC"/>
                </a:solidFill>
              </a:rPr>
              <a:t>Kink is what </a:t>
            </a:r>
            <a:r>
              <a:rPr i="1" lang="en" sz="2700">
                <a:solidFill>
                  <a:srgbClr val="FFF2CC"/>
                </a:solidFill>
              </a:rPr>
              <a:t>you,</a:t>
            </a:r>
            <a:r>
              <a:rPr lang="en" sz="2700">
                <a:solidFill>
                  <a:srgbClr val="FFF2CC"/>
                </a:solidFill>
              </a:rPr>
              <a:t> as a participant, make of it.</a:t>
            </a:r>
            <a:endParaRPr sz="2700">
              <a:solidFill>
                <a:srgbClr val="FFF2CC"/>
              </a:solidFill>
            </a:endParaRPr>
          </a:p>
          <a:p>
            <a:pPr indent="0" lvl="0" marL="0" rtl="0" algn="ctr">
              <a:spcBef>
                <a:spcPts val="1200"/>
              </a:spcBef>
              <a:spcAft>
                <a:spcPts val="1200"/>
              </a:spcAft>
              <a:buNone/>
            </a:pPr>
            <a:r>
              <a:rPr lang="en" sz="2000">
                <a:solidFill>
                  <a:schemeClr val="lt2"/>
                </a:solidFill>
              </a:rPr>
              <a:t>( With a couple of strict rules )</a:t>
            </a:r>
            <a:endParaRPr sz="1700">
              <a:solidFill>
                <a:schemeClr val="lt2"/>
              </a:solidFill>
            </a:endParaRPr>
          </a:p>
        </p:txBody>
      </p:sp>
      <p:sp>
        <p:nvSpPr>
          <p:cNvPr id="178" name="Google Shape;178;p2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UNIVERSAL* RULES OF KINK</a:t>
            </a:r>
            <a:endParaRPr/>
          </a:p>
        </p:txBody>
      </p:sp>
      <p:sp>
        <p:nvSpPr>
          <p:cNvPr id="184" name="Google Shape;184;p30"/>
          <p:cNvSpPr txBox="1"/>
          <p:nvPr>
            <p:ph idx="1" type="body"/>
          </p:nvPr>
        </p:nvSpPr>
        <p:spPr>
          <a:xfrm>
            <a:off x="311700" y="1141163"/>
            <a:ext cx="8520600" cy="34164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Clr>
                <a:srgbClr val="A4C2F4"/>
              </a:buClr>
              <a:buSzPts val="1800"/>
              <a:buChar char="●"/>
            </a:pPr>
            <a:r>
              <a:rPr lang="en">
                <a:solidFill>
                  <a:srgbClr val="A4C2F4"/>
                </a:solidFill>
              </a:rPr>
              <a:t>CONSENT IS </a:t>
            </a:r>
            <a:r>
              <a:rPr lang="en">
                <a:solidFill>
                  <a:srgbClr val="A4C2F4"/>
                </a:solidFill>
              </a:rPr>
              <a:t>MANDATORY</a:t>
            </a:r>
            <a:endParaRPr>
              <a:solidFill>
                <a:schemeClr val="lt2"/>
              </a:solidFill>
            </a:endParaRPr>
          </a:p>
          <a:p>
            <a:pPr indent="-317500" lvl="1" marL="914400" rtl="0" algn="l">
              <a:spcBef>
                <a:spcPts val="0"/>
              </a:spcBef>
              <a:spcAft>
                <a:spcPts val="0"/>
              </a:spcAft>
              <a:buClr>
                <a:schemeClr val="lt2"/>
              </a:buClr>
              <a:buSzPts val="1400"/>
              <a:buChar char="○"/>
            </a:pPr>
            <a:r>
              <a:rPr lang="en">
                <a:solidFill>
                  <a:schemeClr val="lt2"/>
                </a:solidFill>
              </a:rPr>
              <a:t>No exceptions</a:t>
            </a:r>
            <a:endParaRPr>
              <a:solidFill>
                <a:schemeClr val="lt2"/>
              </a:solidFill>
            </a:endParaRPr>
          </a:p>
          <a:p>
            <a:pPr indent="-317500" lvl="1" marL="914400" rtl="0" algn="l">
              <a:spcBef>
                <a:spcPts val="0"/>
              </a:spcBef>
              <a:spcAft>
                <a:spcPts val="0"/>
              </a:spcAft>
              <a:buClr>
                <a:schemeClr val="lt2"/>
              </a:buClr>
              <a:buSzPts val="1400"/>
              <a:buChar char="○"/>
            </a:pPr>
            <a:r>
              <a:rPr lang="en">
                <a:solidFill>
                  <a:schemeClr val="lt2"/>
                </a:solidFill>
              </a:rPr>
              <a:t>Violating consent will get you blacklisted </a:t>
            </a:r>
            <a:r>
              <a:rPr i="1" lang="en">
                <a:solidFill>
                  <a:schemeClr val="lt2"/>
                </a:solidFill>
              </a:rPr>
              <a:t>fast</a:t>
            </a:r>
            <a:br>
              <a:rPr lang="en">
                <a:solidFill>
                  <a:schemeClr val="lt2"/>
                </a:solidFill>
              </a:rPr>
            </a:br>
            <a:endParaRPr>
              <a:solidFill>
                <a:schemeClr val="lt2"/>
              </a:solidFill>
            </a:endParaRPr>
          </a:p>
          <a:p>
            <a:pPr indent="-342900" lvl="0" marL="457200" rtl="0" algn="l">
              <a:spcBef>
                <a:spcPts val="0"/>
              </a:spcBef>
              <a:spcAft>
                <a:spcPts val="0"/>
              </a:spcAft>
              <a:buClr>
                <a:srgbClr val="A4C2F4"/>
              </a:buClr>
              <a:buSzPts val="1800"/>
              <a:buChar char="●"/>
            </a:pPr>
            <a:r>
              <a:rPr lang="en">
                <a:solidFill>
                  <a:srgbClr val="A4C2F4"/>
                </a:solidFill>
              </a:rPr>
              <a:t>Kink is NOT always sexual</a:t>
            </a:r>
            <a:endParaRPr>
              <a:solidFill>
                <a:schemeClr val="lt2"/>
              </a:solidFill>
            </a:endParaRPr>
          </a:p>
          <a:p>
            <a:pPr indent="-317500" lvl="1" marL="914400" rtl="0" algn="l">
              <a:spcBef>
                <a:spcPts val="0"/>
              </a:spcBef>
              <a:spcAft>
                <a:spcPts val="0"/>
              </a:spcAft>
              <a:buClr>
                <a:schemeClr val="lt2"/>
              </a:buClr>
              <a:buSzPts val="1400"/>
              <a:buChar char="○"/>
            </a:pPr>
            <a:r>
              <a:rPr lang="en">
                <a:solidFill>
                  <a:schemeClr val="lt2"/>
                </a:solidFill>
              </a:rPr>
              <a:t>It is also not always romantic, or pretty</a:t>
            </a:r>
            <a:br>
              <a:rPr lang="en">
                <a:solidFill>
                  <a:schemeClr val="lt2"/>
                </a:solidFill>
              </a:rPr>
            </a:br>
            <a:endParaRPr>
              <a:solidFill>
                <a:schemeClr val="lt2"/>
              </a:solidFill>
            </a:endParaRPr>
          </a:p>
          <a:p>
            <a:pPr indent="-342900" lvl="0" marL="457200" rtl="0" algn="l">
              <a:spcBef>
                <a:spcPts val="0"/>
              </a:spcBef>
              <a:spcAft>
                <a:spcPts val="0"/>
              </a:spcAft>
              <a:buClr>
                <a:srgbClr val="A4C2F4"/>
              </a:buClr>
              <a:buSzPts val="1800"/>
              <a:buChar char="●"/>
            </a:pPr>
            <a:r>
              <a:rPr lang="en">
                <a:solidFill>
                  <a:srgbClr val="A4C2F4"/>
                </a:solidFill>
              </a:rPr>
              <a:t>Kink is </a:t>
            </a:r>
            <a:r>
              <a:rPr i="1" lang="en">
                <a:solidFill>
                  <a:srgbClr val="A4C2F4"/>
                </a:solidFill>
              </a:rPr>
              <a:t>more</a:t>
            </a:r>
            <a:r>
              <a:rPr lang="en">
                <a:solidFill>
                  <a:srgbClr val="A4C2F4"/>
                </a:solidFill>
              </a:rPr>
              <a:t> than just BDSM</a:t>
            </a:r>
            <a:endParaRPr>
              <a:solidFill>
                <a:srgbClr val="A4C2F4"/>
              </a:solidFill>
            </a:endParaRPr>
          </a:p>
          <a:p>
            <a:pPr indent="-317500" lvl="1" marL="914400" rtl="0" algn="l">
              <a:spcBef>
                <a:spcPts val="0"/>
              </a:spcBef>
              <a:spcAft>
                <a:spcPts val="0"/>
              </a:spcAft>
              <a:buClr>
                <a:schemeClr val="lt2"/>
              </a:buClr>
              <a:buSzPts val="1400"/>
              <a:buChar char="○"/>
            </a:pPr>
            <a:r>
              <a:rPr b="1" lang="en">
                <a:solidFill>
                  <a:srgbClr val="FFF2CC"/>
                </a:solidFill>
              </a:rPr>
              <a:t>B</a:t>
            </a:r>
            <a:r>
              <a:rPr lang="en">
                <a:solidFill>
                  <a:schemeClr val="lt2"/>
                </a:solidFill>
              </a:rPr>
              <a:t>ondage, </a:t>
            </a:r>
            <a:r>
              <a:rPr b="1" lang="en">
                <a:solidFill>
                  <a:srgbClr val="FFF2CC"/>
                </a:solidFill>
              </a:rPr>
              <a:t>D</a:t>
            </a:r>
            <a:r>
              <a:rPr lang="en">
                <a:solidFill>
                  <a:schemeClr val="lt2"/>
                </a:solidFill>
              </a:rPr>
              <a:t>omination, and </a:t>
            </a:r>
            <a:r>
              <a:rPr b="1" lang="en">
                <a:solidFill>
                  <a:srgbClr val="FFF2CC"/>
                </a:solidFill>
              </a:rPr>
              <a:t>S</a:t>
            </a:r>
            <a:r>
              <a:rPr lang="en">
                <a:solidFill>
                  <a:schemeClr val="lt2"/>
                </a:solidFill>
              </a:rPr>
              <a:t>ado-</a:t>
            </a:r>
            <a:r>
              <a:rPr b="1" lang="en">
                <a:solidFill>
                  <a:srgbClr val="FFF2CC"/>
                </a:solidFill>
              </a:rPr>
              <a:t>M</a:t>
            </a:r>
            <a:r>
              <a:rPr lang="en">
                <a:solidFill>
                  <a:schemeClr val="lt2"/>
                </a:solidFill>
              </a:rPr>
              <a:t>asochism are merely four possibilities out of countless others.</a:t>
            </a:r>
            <a:endParaRPr>
              <a:solidFill>
                <a:schemeClr val="lt2"/>
              </a:solidFill>
            </a:endParaRPr>
          </a:p>
        </p:txBody>
      </p:sp>
      <p:sp>
        <p:nvSpPr>
          <p:cNvPr id="185" name="Google Shape;185;p30"/>
          <p:cNvSpPr txBox="1"/>
          <p:nvPr/>
        </p:nvSpPr>
        <p:spPr>
          <a:xfrm>
            <a:off x="4659600" y="4157375"/>
            <a:ext cx="41727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3"/>
                </a:solidFill>
                <a:latin typeface="Average"/>
                <a:ea typeface="Average"/>
                <a:cs typeface="Average"/>
                <a:sym typeface="Average"/>
              </a:rPr>
              <a:t>*At least within the United States</a:t>
            </a:r>
            <a:endParaRPr>
              <a:solidFill>
                <a:schemeClr val="accent3"/>
              </a:solidFill>
              <a:latin typeface="Average"/>
              <a:ea typeface="Average"/>
              <a:cs typeface="Average"/>
              <a:sym typeface="Average"/>
            </a:endParaRPr>
          </a:p>
        </p:txBody>
      </p:sp>
      <p:sp>
        <p:nvSpPr>
          <p:cNvPr id="186" name="Google Shape;186;p3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BREAK TIME</a:t>
            </a:r>
            <a:endParaRPr/>
          </a:p>
        </p:txBody>
      </p:sp>
      <p:sp>
        <p:nvSpPr>
          <p:cNvPr id="192" name="Google Shape;192;p31"/>
          <p:cNvSpPr txBox="1"/>
          <p:nvPr/>
        </p:nvSpPr>
        <p:spPr>
          <a:xfrm>
            <a:off x="2437500" y="3002250"/>
            <a:ext cx="4269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3"/>
                </a:solidFill>
                <a:latin typeface="Average"/>
                <a:ea typeface="Average"/>
                <a:cs typeface="Average"/>
                <a:sym typeface="Average"/>
              </a:rPr>
              <a:t>( …finally )</a:t>
            </a:r>
            <a:endParaRPr sz="1800">
              <a:solidFill>
                <a:schemeClr val="accent3"/>
              </a:solidFill>
              <a:latin typeface="Average"/>
              <a:ea typeface="Average"/>
              <a:cs typeface="Average"/>
              <a:sym typeface="Average"/>
            </a:endParaRPr>
          </a:p>
        </p:txBody>
      </p:sp>
      <p:sp>
        <p:nvSpPr>
          <p:cNvPr id="193" name="Google Shape;193;p3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Types of Play</a:t>
            </a:r>
            <a:endParaRPr/>
          </a:p>
        </p:txBody>
      </p:sp>
      <p:sp>
        <p:nvSpPr>
          <p:cNvPr id="199" name="Google Shape;199;p3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PLAY (Non-Exhaustive)</a:t>
            </a:r>
            <a:endParaRPr/>
          </a:p>
        </p:txBody>
      </p:sp>
      <p:sp>
        <p:nvSpPr>
          <p:cNvPr id="205" name="Google Shape;205;p3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3"/>
          <p:cNvSpPr txBox="1"/>
          <p:nvPr>
            <p:ph idx="1" type="body"/>
          </p:nvPr>
        </p:nvSpPr>
        <p:spPr>
          <a:xfrm>
            <a:off x="311700" y="1152475"/>
            <a:ext cx="3999900" cy="3416400"/>
          </a:xfrm>
          <a:prstGeom prst="rect">
            <a:avLst/>
          </a:prstGeom>
        </p:spPr>
        <p:txBody>
          <a:bodyPr anchorCtr="0" anchor="t" bIns="91425" lIns="91425" spcFirstLastPara="1" rIns="76875" wrap="square" tIns="91425">
            <a:normAutofit fontScale="85000" lnSpcReduction="20000"/>
          </a:bodyPr>
          <a:lstStyle/>
          <a:p>
            <a:pPr indent="0" lvl="0" marL="0" rtl="0" algn="ctr">
              <a:spcBef>
                <a:spcPts val="0"/>
              </a:spcBef>
              <a:spcAft>
                <a:spcPts val="0"/>
              </a:spcAft>
              <a:buNone/>
            </a:pPr>
            <a:r>
              <a:rPr lang="en" sz="2300" u="sng">
                <a:solidFill>
                  <a:srgbClr val="A4C2F4"/>
                </a:solidFill>
              </a:rPr>
              <a:t>COMMON | POPULAR</a:t>
            </a:r>
            <a:endParaRPr sz="2300" u="sng">
              <a:solidFill>
                <a:srgbClr val="A4C2F4"/>
              </a:solidFill>
            </a:endParaRPr>
          </a:p>
          <a:p>
            <a:pPr indent="-309562" lvl="0" marL="457200" rtl="0" algn="l">
              <a:spcBef>
                <a:spcPts val="1200"/>
              </a:spcBef>
              <a:spcAft>
                <a:spcPts val="0"/>
              </a:spcAft>
              <a:buClr>
                <a:srgbClr val="FFF2CC"/>
              </a:buClr>
              <a:buSzPct val="100000"/>
              <a:buChar char="●"/>
            </a:pPr>
            <a:r>
              <a:rPr b="1" lang="en" sz="1500">
                <a:solidFill>
                  <a:srgbClr val="FFF2CC"/>
                </a:solidFill>
              </a:rPr>
              <a:t>IMPACT</a:t>
            </a:r>
            <a:endParaRPr b="1" sz="1500">
              <a:solidFill>
                <a:srgbClr val="FFF2CC"/>
              </a:solidFill>
            </a:endParaRPr>
          </a:p>
          <a:p>
            <a:pPr indent="-309562" lvl="1" marL="914400" rtl="0" algn="l">
              <a:spcBef>
                <a:spcPts val="0"/>
              </a:spcBef>
              <a:spcAft>
                <a:spcPts val="0"/>
              </a:spcAft>
              <a:buSzPct val="100000"/>
              <a:buChar char="○"/>
            </a:pPr>
            <a:r>
              <a:rPr lang="en" sz="1500"/>
              <a:t>Floggers, whips</a:t>
            </a:r>
            <a:endParaRPr sz="1500"/>
          </a:p>
          <a:p>
            <a:pPr indent="-309562" lvl="1" marL="914400" rtl="0" algn="l">
              <a:spcBef>
                <a:spcPts val="0"/>
              </a:spcBef>
              <a:spcAft>
                <a:spcPts val="0"/>
              </a:spcAft>
              <a:buSzPct val="100000"/>
              <a:buChar char="○"/>
            </a:pPr>
            <a:r>
              <a:rPr lang="en" sz="1500"/>
              <a:t>Paddles, Spanking</a:t>
            </a:r>
            <a:br>
              <a:rPr lang="en" sz="1500"/>
            </a:br>
            <a:endParaRPr sz="1500"/>
          </a:p>
          <a:p>
            <a:pPr indent="-309562" lvl="0" marL="457200" rtl="0" algn="l">
              <a:spcBef>
                <a:spcPts val="0"/>
              </a:spcBef>
              <a:spcAft>
                <a:spcPts val="0"/>
              </a:spcAft>
              <a:buClr>
                <a:srgbClr val="FFF2CC"/>
              </a:buClr>
              <a:buSzPct val="100000"/>
              <a:buChar char="●"/>
            </a:pPr>
            <a:r>
              <a:rPr b="1" lang="en" sz="1500">
                <a:solidFill>
                  <a:srgbClr val="FFF2CC"/>
                </a:solidFill>
              </a:rPr>
              <a:t>BONDAGE</a:t>
            </a:r>
            <a:endParaRPr b="1" sz="1500">
              <a:solidFill>
                <a:srgbClr val="FFF2CC"/>
              </a:solidFill>
            </a:endParaRPr>
          </a:p>
          <a:p>
            <a:pPr indent="-309562" lvl="1" marL="914400" rtl="0" algn="l">
              <a:spcBef>
                <a:spcPts val="0"/>
              </a:spcBef>
              <a:spcAft>
                <a:spcPts val="0"/>
              </a:spcAft>
              <a:buSzPct val="100000"/>
              <a:buChar char="○"/>
            </a:pPr>
            <a:r>
              <a:rPr lang="en" sz="1500"/>
              <a:t>General Restraints</a:t>
            </a:r>
            <a:endParaRPr sz="1500"/>
          </a:p>
          <a:p>
            <a:pPr indent="-309562" lvl="1" marL="914400" rtl="0" algn="l">
              <a:spcBef>
                <a:spcPts val="0"/>
              </a:spcBef>
              <a:spcAft>
                <a:spcPts val="0"/>
              </a:spcAft>
              <a:buSzPct val="100000"/>
              <a:buChar char="○"/>
            </a:pPr>
            <a:r>
              <a:rPr lang="en" sz="1500"/>
              <a:t>Rope | Shibari (Rope as art )</a:t>
            </a:r>
            <a:br>
              <a:rPr lang="en" sz="1500"/>
            </a:br>
            <a:endParaRPr sz="1500"/>
          </a:p>
          <a:p>
            <a:pPr indent="-309562" lvl="0" marL="457200" rtl="0" algn="l">
              <a:spcBef>
                <a:spcPts val="0"/>
              </a:spcBef>
              <a:spcAft>
                <a:spcPts val="0"/>
              </a:spcAft>
              <a:buClr>
                <a:srgbClr val="FFF2CC"/>
              </a:buClr>
              <a:buSzPct val="100000"/>
              <a:buChar char="●"/>
            </a:pPr>
            <a:r>
              <a:rPr b="1" lang="en" sz="1500">
                <a:solidFill>
                  <a:srgbClr val="FFF2CC"/>
                </a:solidFill>
              </a:rPr>
              <a:t>ROLEPLAY (various)</a:t>
            </a:r>
            <a:endParaRPr b="1" sz="1500">
              <a:solidFill>
                <a:srgbClr val="FFF2CC"/>
              </a:solidFill>
            </a:endParaRPr>
          </a:p>
          <a:p>
            <a:pPr indent="-309562" lvl="1" marL="914400" rtl="0" algn="l">
              <a:spcBef>
                <a:spcPts val="0"/>
              </a:spcBef>
              <a:spcAft>
                <a:spcPts val="0"/>
              </a:spcAft>
              <a:buSzPct val="100000"/>
              <a:buChar char="○"/>
            </a:pPr>
            <a:r>
              <a:rPr lang="en" sz="1500"/>
              <a:t>Age</a:t>
            </a:r>
            <a:endParaRPr sz="1500"/>
          </a:p>
          <a:p>
            <a:pPr indent="-309562" lvl="1" marL="914400" rtl="0" algn="l">
              <a:spcBef>
                <a:spcPts val="0"/>
              </a:spcBef>
              <a:spcAft>
                <a:spcPts val="0"/>
              </a:spcAft>
              <a:buSzPct val="100000"/>
              <a:buChar char="○"/>
            </a:pPr>
            <a:r>
              <a:rPr lang="en" sz="1500"/>
              <a:t>Animal</a:t>
            </a:r>
            <a:br>
              <a:rPr lang="en" sz="1500"/>
            </a:br>
            <a:endParaRPr sz="1500"/>
          </a:p>
          <a:p>
            <a:pPr indent="-309562" lvl="0" marL="457200" rtl="0" algn="l">
              <a:spcBef>
                <a:spcPts val="0"/>
              </a:spcBef>
              <a:spcAft>
                <a:spcPts val="0"/>
              </a:spcAft>
              <a:buClr>
                <a:srgbClr val="FFF2CC"/>
              </a:buClr>
              <a:buSzPct val="100000"/>
              <a:buChar char="●"/>
            </a:pPr>
            <a:r>
              <a:rPr b="1" lang="en" sz="1500">
                <a:solidFill>
                  <a:srgbClr val="FFF2CC"/>
                </a:solidFill>
              </a:rPr>
              <a:t>POWER EXCHANGE</a:t>
            </a:r>
            <a:endParaRPr b="1" sz="1500">
              <a:solidFill>
                <a:srgbClr val="FFF2CC"/>
              </a:solidFill>
            </a:endParaRPr>
          </a:p>
          <a:p>
            <a:pPr indent="-309562" lvl="1" marL="914400" rtl="0" algn="l">
              <a:spcBef>
                <a:spcPts val="0"/>
              </a:spcBef>
              <a:spcAft>
                <a:spcPts val="0"/>
              </a:spcAft>
              <a:buSzPct val="100000"/>
              <a:buChar char="○"/>
            </a:pPr>
            <a:r>
              <a:rPr lang="en" sz="1500"/>
              <a:t>Dominant/submissive</a:t>
            </a:r>
            <a:endParaRPr sz="1500"/>
          </a:p>
          <a:p>
            <a:pPr indent="-309562" lvl="1" marL="914400" rtl="0" algn="l">
              <a:spcBef>
                <a:spcPts val="0"/>
              </a:spcBef>
              <a:spcAft>
                <a:spcPts val="0"/>
              </a:spcAft>
              <a:buSzPct val="100000"/>
              <a:buChar char="○"/>
            </a:pPr>
            <a:r>
              <a:rPr lang="en" sz="1500"/>
              <a:t>Caregiver/Little </a:t>
            </a:r>
            <a:endParaRPr sz="1500"/>
          </a:p>
        </p:txBody>
      </p:sp>
      <p:sp>
        <p:nvSpPr>
          <p:cNvPr id="207" name="Google Shape;207;p3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fontScale="32500" lnSpcReduction="20000"/>
          </a:bodyPr>
          <a:lstStyle/>
          <a:p>
            <a:pPr indent="0" lvl="0" marL="0" rtl="0" algn="ctr">
              <a:spcBef>
                <a:spcPts val="0"/>
              </a:spcBef>
              <a:spcAft>
                <a:spcPts val="0"/>
              </a:spcAft>
              <a:buNone/>
            </a:pPr>
            <a:r>
              <a:rPr lang="en" sz="5500" u="sng">
                <a:solidFill>
                  <a:srgbClr val="A4C2F4"/>
                </a:solidFill>
              </a:rPr>
              <a:t>ADVANCED | HIGH-RISK</a:t>
            </a:r>
            <a:endParaRPr sz="5500">
              <a:solidFill>
                <a:schemeClr val="lt2"/>
              </a:solidFill>
            </a:endParaRPr>
          </a:p>
          <a:p>
            <a:pPr indent="-303926" lvl="0" marL="457200" rtl="0" algn="l">
              <a:spcBef>
                <a:spcPts val="1200"/>
              </a:spcBef>
              <a:spcAft>
                <a:spcPts val="0"/>
              </a:spcAft>
              <a:buClr>
                <a:schemeClr val="lt2"/>
              </a:buClr>
              <a:buSzPct val="100000"/>
              <a:buChar char="●"/>
            </a:pPr>
            <a:r>
              <a:rPr b="1" lang="en" sz="3650">
                <a:solidFill>
                  <a:srgbClr val="FFF2CC"/>
                </a:solidFill>
              </a:rPr>
              <a:t>CBT (Cock-and-Ball Torture)</a:t>
            </a:r>
            <a:br>
              <a:rPr lang="en" sz="3650">
                <a:solidFill>
                  <a:schemeClr val="lt2"/>
                </a:solidFill>
              </a:rPr>
            </a:br>
            <a:endParaRPr sz="3650">
              <a:solidFill>
                <a:schemeClr val="lt2"/>
              </a:solidFill>
            </a:endParaRPr>
          </a:p>
          <a:p>
            <a:pPr indent="-303926" lvl="0" marL="457200" rtl="0" algn="l">
              <a:spcBef>
                <a:spcPts val="0"/>
              </a:spcBef>
              <a:spcAft>
                <a:spcPts val="0"/>
              </a:spcAft>
              <a:buClr>
                <a:schemeClr val="lt2"/>
              </a:buClr>
              <a:buSzPct val="100000"/>
              <a:buChar char="●"/>
            </a:pPr>
            <a:r>
              <a:rPr b="1" lang="en" sz="3650">
                <a:solidFill>
                  <a:srgbClr val="FFF2CC"/>
                </a:solidFill>
              </a:rPr>
              <a:t>ELECTRO</a:t>
            </a:r>
            <a:br>
              <a:rPr b="1" lang="en" sz="3650">
                <a:solidFill>
                  <a:srgbClr val="FFF2CC"/>
                </a:solidFill>
              </a:rPr>
            </a:br>
            <a:endParaRPr b="1" sz="3650">
              <a:solidFill>
                <a:srgbClr val="FFF2CC"/>
              </a:solidFill>
            </a:endParaRPr>
          </a:p>
          <a:p>
            <a:pPr indent="-303926" lvl="0" marL="457200" rtl="0" algn="l">
              <a:spcBef>
                <a:spcPts val="0"/>
              </a:spcBef>
              <a:spcAft>
                <a:spcPts val="0"/>
              </a:spcAft>
              <a:buClr>
                <a:schemeClr val="lt2"/>
              </a:buClr>
              <a:buSzPct val="100000"/>
              <a:buChar char="●"/>
            </a:pPr>
            <a:r>
              <a:rPr lang="en" sz="3650">
                <a:solidFill>
                  <a:srgbClr val="FFF2CC"/>
                </a:solidFill>
              </a:rPr>
              <a:t>EMOTIONAL POWER EXCHANGE</a:t>
            </a:r>
            <a:endParaRPr sz="3650">
              <a:solidFill>
                <a:srgbClr val="FFF2CC"/>
              </a:solidFill>
            </a:endParaRPr>
          </a:p>
          <a:p>
            <a:pPr indent="-303926" lvl="1" marL="914400" rtl="0" algn="l">
              <a:spcBef>
                <a:spcPts val="0"/>
              </a:spcBef>
              <a:spcAft>
                <a:spcPts val="0"/>
              </a:spcAft>
              <a:buClr>
                <a:schemeClr val="lt2"/>
              </a:buClr>
              <a:buSzPct val="100000"/>
              <a:buChar char="○"/>
            </a:pPr>
            <a:r>
              <a:rPr lang="en" sz="3650">
                <a:solidFill>
                  <a:schemeClr val="lt2"/>
                </a:solidFill>
              </a:rPr>
              <a:t>Degradation</a:t>
            </a:r>
            <a:r>
              <a:rPr lang="en" sz="3650">
                <a:solidFill>
                  <a:schemeClr val="lt2"/>
                </a:solidFill>
              </a:rPr>
              <a:t> / Humiliation</a:t>
            </a:r>
            <a:br>
              <a:rPr lang="en" sz="3650">
                <a:solidFill>
                  <a:schemeClr val="lt2"/>
                </a:solidFill>
              </a:rPr>
            </a:br>
            <a:endParaRPr sz="3650">
              <a:solidFill>
                <a:schemeClr val="lt2"/>
              </a:solidFill>
            </a:endParaRPr>
          </a:p>
          <a:p>
            <a:pPr indent="-303926" lvl="0" marL="457200" rtl="0" algn="l">
              <a:spcBef>
                <a:spcPts val="0"/>
              </a:spcBef>
              <a:spcAft>
                <a:spcPts val="0"/>
              </a:spcAft>
              <a:buClr>
                <a:srgbClr val="FFF2CC"/>
              </a:buClr>
              <a:buSzPct val="100000"/>
              <a:buChar char="●"/>
            </a:pPr>
            <a:r>
              <a:rPr b="1" lang="en" sz="3650">
                <a:solidFill>
                  <a:srgbClr val="FFF2CC"/>
                </a:solidFill>
              </a:rPr>
              <a:t>FIRE</a:t>
            </a:r>
            <a:endParaRPr sz="3650">
              <a:solidFill>
                <a:schemeClr val="lt2"/>
              </a:solidFill>
            </a:endParaRPr>
          </a:p>
          <a:p>
            <a:pPr indent="-303926" lvl="1" marL="914400" rtl="0" algn="l">
              <a:spcBef>
                <a:spcPts val="0"/>
              </a:spcBef>
              <a:spcAft>
                <a:spcPts val="0"/>
              </a:spcAft>
              <a:buClr>
                <a:schemeClr val="lt2"/>
              </a:buClr>
              <a:buSzPct val="100000"/>
              <a:buChar char="○"/>
            </a:pPr>
            <a:r>
              <a:rPr lang="en" sz="3650">
                <a:solidFill>
                  <a:schemeClr val="lt2"/>
                </a:solidFill>
              </a:rPr>
              <a:t>Cell Popping | Branding</a:t>
            </a:r>
            <a:br>
              <a:rPr lang="en" sz="3650">
                <a:solidFill>
                  <a:schemeClr val="lt2"/>
                </a:solidFill>
              </a:rPr>
            </a:br>
            <a:endParaRPr sz="3650">
              <a:solidFill>
                <a:schemeClr val="lt2"/>
              </a:solidFill>
            </a:endParaRPr>
          </a:p>
          <a:p>
            <a:pPr indent="-303926" lvl="0" marL="457200" rtl="0" algn="l">
              <a:spcBef>
                <a:spcPts val="0"/>
              </a:spcBef>
              <a:spcAft>
                <a:spcPts val="0"/>
              </a:spcAft>
              <a:buClr>
                <a:srgbClr val="FFF2CC"/>
              </a:buClr>
              <a:buSzPct val="100000"/>
              <a:buChar char="●"/>
            </a:pPr>
            <a:r>
              <a:rPr b="1" lang="en" sz="3650">
                <a:solidFill>
                  <a:srgbClr val="FFF2CC"/>
                </a:solidFill>
              </a:rPr>
              <a:t>MEDICAL</a:t>
            </a:r>
            <a:endParaRPr b="1" sz="3650">
              <a:solidFill>
                <a:srgbClr val="FFF2CC"/>
              </a:solidFill>
            </a:endParaRPr>
          </a:p>
          <a:p>
            <a:pPr indent="-303926" lvl="1" marL="914400" rtl="0" algn="l">
              <a:spcBef>
                <a:spcPts val="0"/>
              </a:spcBef>
              <a:spcAft>
                <a:spcPts val="0"/>
              </a:spcAft>
              <a:buClr>
                <a:schemeClr val="lt2"/>
              </a:buClr>
              <a:buSzPct val="100000"/>
              <a:buChar char="○"/>
            </a:pPr>
            <a:r>
              <a:rPr lang="en" sz="3650">
                <a:solidFill>
                  <a:schemeClr val="lt2"/>
                </a:solidFill>
              </a:rPr>
              <a:t>Needles | Piercing</a:t>
            </a:r>
            <a:endParaRPr sz="3650">
              <a:solidFill>
                <a:schemeClr val="lt2"/>
              </a:solidFill>
            </a:endParaRPr>
          </a:p>
          <a:p>
            <a:pPr indent="-303926" lvl="1" marL="914400" rtl="0" algn="l">
              <a:spcBef>
                <a:spcPts val="0"/>
              </a:spcBef>
              <a:spcAft>
                <a:spcPts val="0"/>
              </a:spcAft>
              <a:buClr>
                <a:schemeClr val="lt2"/>
              </a:buClr>
              <a:buSzPct val="100000"/>
              <a:buChar char="○"/>
            </a:pPr>
            <a:r>
              <a:rPr lang="en" sz="3650">
                <a:solidFill>
                  <a:schemeClr val="lt2"/>
                </a:solidFill>
              </a:rPr>
              <a:t>Blood</a:t>
            </a:r>
            <a:br>
              <a:rPr lang="en" sz="3650">
                <a:solidFill>
                  <a:schemeClr val="lt2"/>
                </a:solidFill>
              </a:rPr>
            </a:br>
            <a:endParaRPr sz="3650">
              <a:solidFill>
                <a:schemeClr val="lt2"/>
              </a:solidFill>
            </a:endParaRPr>
          </a:p>
          <a:p>
            <a:pPr indent="-303926" lvl="0" marL="457200" rtl="0" algn="l">
              <a:spcBef>
                <a:spcPts val="0"/>
              </a:spcBef>
              <a:spcAft>
                <a:spcPts val="0"/>
              </a:spcAft>
              <a:buClr>
                <a:srgbClr val="FFF2CC"/>
              </a:buClr>
              <a:buSzPct val="100000"/>
              <a:buChar char="●"/>
            </a:pPr>
            <a:r>
              <a:rPr b="1" lang="en" sz="3650">
                <a:solidFill>
                  <a:srgbClr val="FFF2CC"/>
                </a:solidFill>
              </a:rPr>
              <a:t>SUSPENSION</a:t>
            </a:r>
            <a:endParaRPr b="1" sz="3650">
              <a:solidFill>
                <a:srgbClr val="FFF2CC"/>
              </a:solidFill>
            </a:endParaRPr>
          </a:p>
          <a:p>
            <a:pPr indent="-303926" lvl="1" marL="914400" rtl="0" algn="l">
              <a:spcBef>
                <a:spcPts val="0"/>
              </a:spcBef>
              <a:spcAft>
                <a:spcPts val="0"/>
              </a:spcAft>
              <a:buClr>
                <a:schemeClr val="lt2"/>
              </a:buClr>
              <a:buSzPct val="100000"/>
              <a:buChar char="○"/>
            </a:pPr>
            <a:r>
              <a:rPr lang="en" sz="3650">
                <a:solidFill>
                  <a:schemeClr val="lt2"/>
                </a:solidFill>
              </a:rPr>
              <a:t>Rope</a:t>
            </a:r>
            <a:endParaRPr sz="3650">
              <a:solidFill>
                <a:schemeClr val="lt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TABOO KINKS</a:t>
            </a:r>
            <a:endParaRPr/>
          </a:p>
        </p:txBody>
      </p:sp>
      <p:sp>
        <p:nvSpPr>
          <p:cNvPr id="213" name="Google Shape;213;p34"/>
          <p:cNvSpPr txBox="1"/>
          <p:nvPr>
            <p:ph idx="1" type="body"/>
          </p:nvPr>
        </p:nvSpPr>
        <p:spPr>
          <a:xfrm>
            <a:off x="311700" y="1141150"/>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Clr>
                <a:srgbClr val="A4C2F4"/>
              </a:buClr>
              <a:buSzPct val="100000"/>
              <a:buChar char="●"/>
            </a:pPr>
            <a:r>
              <a:rPr lang="en">
                <a:solidFill>
                  <a:srgbClr val="A4C2F4"/>
                </a:solidFill>
              </a:rPr>
              <a:t>BREATH PLAY</a:t>
            </a:r>
            <a:endParaRPr>
              <a:solidFill>
                <a:srgbClr val="A4C2F4"/>
              </a:solidFill>
            </a:endParaRPr>
          </a:p>
          <a:p>
            <a:pPr indent="-310832" lvl="1" marL="914400" rtl="0" algn="l">
              <a:spcBef>
                <a:spcPts val="0"/>
              </a:spcBef>
              <a:spcAft>
                <a:spcPts val="0"/>
              </a:spcAft>
              <a:buSzPct val="100000"/>
              <a:buChar char="○"/>
            </a:pPr>
            <a:r>
              <a:rPr lang="en"/>
              <a:t>General restriction of breath, or airways</a:t>
            </a:r>
            <a:endParaRPr/>
          </a:p>
          <a:p>
            <a:pPr indent="-310832" lvl="1" marL="914400" rtl="0" algn="l">
              <a:spcBef>
                <a:spcPts val="0"/>
              </a:spcBef>
              <a:spcAft>
                <a:spcPts val="0"/>
              </a:spcAft>
              <a:buSzPct val="100000"/>
              <a:buChar char="○"/>
            </a:pPr>
            <a:r>
              <a:rPr lang="en"/>
              <a:t>Considered Very-High Risk</a:t>
            </a:r>
            <a:br>
              <a:rPr lang="en"/>
            </a:br>
            <a:endParaRPr/>
          </a:p>
          <a:p>
            <a:pPr indent="-334327" lvl="0" marL="457200" rtl="0" algn="l">
              <a:spcBef>
                <a:spcPts val="0"/>
              </a:spcBef>
              <a:spcAft>
                <a:spcPts val="0"/>
              </a:spcAft>
              <a:buClr>
                <a:srgbClr val="A4C2F4"/>
              </a:buClr>
              <a:buSzPct val="100000"/>
              <a:buChar char="●"/>
            </a:pPr>
            <a:r>
              <a:rPr lang="en">
                <a:solidFill>
                  <a:srgbClr val="A4C2F4"/>
                </a:solidFill>
              </a:rPr>
              <a:t>CNC - Consensual Non-Consent</a:t>
            </a:r>
            <a:endParaRPr>
              <a:solidFill>
                <a:srgbClr val="A4C2F4"/>
              </a:solidFill>
            </a:endParaRPr>
          </a:p>
          <a:p>
            <a:pPr indent="-310832" lvl="1" marL="914400" rtl="0" algn="l">
              <a:spcBef>
                <a:spcPts val="0"/>
              </a:spcBef>
              <a:spcAft>
                <a:spcPts val="0"/>
              </a:spcAft>
              <a:buSzPct val="100000"/>
              <a:buChar char="○"/>
            </a:pPr>
            <a:r>
              <a:rPr lang="en"/>
              <a:t>Requires a </a:t>
            </a:r>
            <a:r>
              <a:rPr i="1" lang="en">
                <a:solidFill>
                  <a:srgbClr val="FFF2CC"/>
                </a:solidFill>
              </a:rPr>
              <a:t>lot</a:t>
            </a:r>
            <a:r>
              <a:rPr lang="en"/>
              <a:t> of </a:t>
            </a:r>
            <a:r>
              <a:rPr i="1" lang="en">
                <a:solidFill>
                  <a:srgbClr val="FFF2CC"/>
                </a:solidFill>
              </a:rPr>
              <a:t>specific</a:t>
            </a:r>
            <a:r>
              <a:rPr lang="en"/>
              <a:t> negotiation</a:t>
            </a:r>
            <a:endParaRPr/>
          </a:p>
          <a:p>
            <a:pPr indent="-310832" lvl="1" marL="914400" rtl="0" algn="l">
              <a:spcBef>
                <a:spcPts val="0"/>
              </a:spcBef>
              <a:spcAft>
                <a:spcPts val="0"/>
              </a:spcAft>
              <a:buSzPct val="100000"/>
              <a:buChar char="○"/>
            </a:pPr>
            <a:r>
              <a:rPr lang="en"/>
              <a:t>May cause panic amongst witnesses</a:t>
            </a:r>
            <a:br>
              <a:rPr lang="en"/>
            </a:br>
            <a:endParaRPr/>
          </a:p>
          <a:p>
            <a:pPr indent="-334327" lvl="0" marL="457200" rtl="0" algn="l">
              <a:spcBef>
                <a:spcPts val="0"/>
              </a:spcBef>
              <a:spcAft>
                <a:spcPts val="0"/>
              </a:spcAft>
              <a:buClr>
                <a:srgbClr val="A4C2F4"/>
              </a:buClr>
              <a:buSzPct val="100000"/>
              <a:buChar char="●"/>
            </a:pPr>
            <a:r>
              <a:rPr lang="en">
                <a:solidFill>
                  <a:srgbClr val="A4C2F4"/>
                </a:solidFill>
              </a:rPr>
              <a:t>BODILY FLUIDS (Not-Blood)</a:t>
            </a:r>
            <a:endParaRPr>
              <a:solidFill>
                <a:srgbClr val="A4C2F4"/>
              </a:solidFill>
            </a:endParaRPr>
          </a:p>
          <a:p>
            <a:pPr indent="-310832" lvl="1" marL="914400" rtl="0" algn="l">
              <a:spcBef>
                <a:spcPts val="0"/>
              </a:spcBef>
              <a:spcAft>
                <a:spcPts val="0"/>
              </a:spcAft>
              <a:buSzPct val="100000"/>
              <a:buChar char="○"/>
            </a:pPr>
            <a:r>
              <a:rPr lang="en"/>
              <a:t>Scat | Watersports</a:t>
            </a:r>
            <a:endParaRPr/>
          </a:p>
          <a:p>
            <a:pPr indent="-310832" lvl="1" marL="914400" rtl="0" algn="l">
              <a:spcBef>
                <a:spcPts val="0"/>
              </a:spcBef>
              <a:spcAft>
                <a:spcPts val="0"/>
              </a:spcAft>
              <a:buSzPct val="77777"/>
              <a:buChar char="○"/>
            </a:pPr>
            <a:r>
              <a:rPr lang="en"/>
              <a:t>Generally unsanitary, and spaces are not equipped for this.</a:t>
            </a:r>
            <a:br>
              <a:rPr lang="en"/>
            </a:br>
            <a:endParaRPr sz="1800"/>
          </a:p>
          <a:p>
            <a:pPr indent="-334327" lvl="0" marL="457200" rtl="0" algn="l">
              <a:spcBef>
                <a:spcPts val="0"/>
              </a:spcBef>
              <a:spcAft>
                <a:spcPts val="0"/>
              </a:spcAft>
              <a:buSzPct val="100000"/>
              <a:buChar char="●"/>
            </a:pPr>
            <a:r>
              <a:rPr lang="en">
                <a:solidFill>
                  <a:srgbClr val="A4C2F4"/>
                </a:solidFill>
              </a:rPr>
              <a:t>INTOXICATION</a:t>
            </a:r>
            <a:endParaRPr>
              <a:solidFill>
                <a:srgbClr val="A4C2F4"/>
              </a:solidFill>
            </a:endParaRPr>
          </a:p>
          <a:p>
            <a:pPr indent="-310832" lvl="1" marL="914400" rtl="0" algn="l">
              <a:spcBef>
                <a:spcPts val="0"/>
              </a:spcBef>
              <a:spcAft>
                <a:spcPts val="0"/>
              </a:spcAft>
              <a:buSzPct val="100000"/>
              <a:buChar char="○"/>
            </a:pPr>
            <a:r>
              <a:rPr lang="en"/>
              <a:t>Alcohol, marijuana, all other drugs</a:t>
            </a:r>
            <a:endParaRPr/>
          </a:p>
          <a:p>
            <a:pPr indent="-310832" lvl="1" marL="914400" rtl="0" algn="l">
              <a:spcBef>
                <a:spcPts val="0"/>
              </a:spcBef>
              <a:spcAft>
                <a:spcPts val="0"/>
              </a:spcAft>
              <a:buSzPct val="100000"/>
              <a:buChar char="○"/>
            </a:pPr>
            <a:r>
              <a:rPr lang="en"/>
              <a:t>Broadly banned in play spaces.  Intoxicated </a:t>
            </a:r>
            <a:r>
              <a:rPr lang="en"/>
              <a:t>individuals</a:t>
            </a:r>
            <a:r>
              <a:rPr lang="en"/>
              <a:t> cannot consent.</a:t>
            </a:r>
            <a:endParaRPr/>
          </a:p>
        </p:txBody>
      </p:sp>
      <p:sp>
        <p:nvSpPr>
          <p:cNvPr id="214" name="Google Shape;214;p3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Play Party Expectations</a:t>
            </a:r>
            <a:endParaRPr/>
          </a:p>
        </p:txBody>
      </p:sp>
      <p:sp>
        <p:nvSpPr>
          <p:cNvPr id="220" name="Google Shape;220;p3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TO EXPECT AT A PLAY SPACE</a:t>
            </a:r>
            <a:endParaRPr/>
          </a:p>
        </p:txBody>
      </p:sp>
      <p:sp>
        <p:nvSpPr>
          <p:cNvPr id="226" name="Google Shape;226;p3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Clr>
                <a:srgbClr val="A4C2F4"/>
              </a:buClr>
              <a:buSzPts val="1400"/>
              <a:buChar char="●"/>
            </a:pPr>
            <a:r>
              <a:rPr lang="en">
                <a:solidFill>
                  <a:srgbClr val="A4C2F4"/>
                </a:solidFill>
              </a:rPr>
              <a:t>Paperwork (First Time)</a:t>
            </a:r>
            <a:endParaRPr>
              <a:solidFill>
                <a:srgbClr val="A4C2F4"/>
              </a:solidFill>
            </a:endParaRPr>
          </a:p>
          <a:p>
            <a:pPr indent="-304800" lvl="1" marL="914400" rtl="0" algn="l">
              <a:spcBef>
                <a:spcPts val="0"/>
              </a:spcBef>
              <a:spcAft>
                <a:spcPts val="0"/>
              </a:spcAft>
              <a:buSzPts val="1200"/>
              <a:buChar char="○"/>
            </a:pPr>
            <a:r>
              <a:rPr lang="en"/>
              <a:t>Waiver forms</a:t>
            </a:r>
            <a:endParaRPr/>
          </a:p>
          <a:p>
            <a:pPr indent="-304800" lvl="1" marL="914400" rtl="0" algn="l">
              <a:spcBef>
                <a:spcPts val="0"/>
              </a:spcBef>
              <a:spcAft>
                <a:spcPts val="0"/>
              </a:spcAft>
              <a:buSzPts val="1200"/>
              <a:buChar char="○"/>
            </a:pPr>
            <a:r>
              <a:rPr lang="en"/>
              <a:t>Rules of the space, often common sense</a:t>
            </a:r>
            <a:br>
              <a:rPr lang="en"/>
            </a:br>
            <a:endParaRPr/>
          </a:p>
          <a:p>
            <a:pPr indent="-317500" lvl="0" marL="457200" rtl="0" algn="l">
              <a:spcBef>
                <a:spcPts val="0"/>
              </a:spcBef>
              <a:spcAft>
                <a:spcPts val="0"/>
              </a:spcAft>
              <a:buClr>
                <a:srgbClr val="A4C2F4"/>
              </a:buClr>
              <a:buSzPts val="1400"/>
              <a:buChar char="●"/>
            </a:pPr>
            <a:r>
              <a:rPr lang="en">
                <a:solidFill>
                  <a:srgbClr val="A4C2F4"/>
                </a:solidFill>
              </a:rPr>
              <a:t>Tour of the space (First time)</a:t>
            </a:r>
            <a:endParaRPr>
              <a:solidFill>
                <a:srgbClr val="A4C2F4"/>
              </a:solidFill>
            </a:endParaRPr>
          </a:p>
          <a:p>
            <a:pPr indent="-304800" lvl="1" marL="914400" rtl="0" algn="l">
              <a:spcBef>
                <a:spcPts val="0"/>
              </a:spcBef>
              <a:spcAft>
                <a:spcPts val="0"/>
              </a:spcAft>
              <a:buSzPts val="1200"/>
              <a:buChar char="○"/>
            </a:pPr>
            <a:r>
              <a:rPr lang="en"/>
              <a:t>As it says on the tin </a:t>
            </a:r>
            <a:br>
              <a:rPr lang="en"/>
            </a:br>
            <a:endParaRPr/>
          </a:p>
          <a:p>
            <a:pPr indent="-317500" lvl="0" marL="457200" rtl="0" algn="l">
              <a:spcBef>
                <a:spcPts val="0"/>
              </a:spcBef>
              <a:spcAft>
                <a:spcPts val="0"/>
              </a:spcAft>
              <a:buClr>
                <a:srgbClr val="A4C2F4"/>
              </a:buClr>
              <a:buSzPts val="1400"/>
              <a:buChar char="●"/>
            </a:pPr>
            <a:r>
              <a:rPr lang="en">
                <a:solidFill>
                  <a:srgbClr val="A4C2F4"/>
                </a:solidFill>
              </a:rPr>
              <a:t>Storage area for personal items</a:t>
            </a:r>
            <a:endParaRPr>
              <a:solidFill>
                <a:srgbClr val="A4C2F4"/>
              </a:solidFill>
            </a:endParaRPr>
          </a:p>
          <a:p>
            <a:pPr indent="-304800" lvl="1" marL="914400" rtl="0" algn="l">
              <a:spcBef>
                <a:spcPts val="0"/>
              </a:spcBef>
              <a:spcAft>
                <a:spcPts val="0"/>
              </a:spcAft>
              <a:buSzPts val="1200"/>
              <a:buChar char="○"/>
            </a:pPr>
            <a:r>
              <a:rPr lang="en"/>
              <a:t>Sometimes doubles as changing space</a:t>
            </a:r>
            <a:br>
              <a:rPr lang="en"/>
            </a:br>
            <a:endParaRPr/>
          </a:p>
          <a:p>
            <a:pPr indent="-317500" lvl="0" marL="457200" rtl="0" algn="l">
              <a:spcBef>
                <a:spcPts val="0"/>
              </a:spcBef>
              <a:spcAft>
                <a:spcPts val="0"/>
              </a:spcAft>
              <a:buClr>
                <a:srgbClr val="A4C2F4"/>
              </a:buClr>
              <a:buSzPts val="1400"/>
              <a:buChar char="●"/>
            </a:pPr>
            <a:r>
              <a:rPr lang="en" sz="1400">
                <a:solidFill>
                  <a:srgbClr val="A4C2F4"/>
                </a:solidFill>
              </a:rPr>
              <a:t>Dedicated Social and Play Areas</a:t>
            </a:r>
            <a:endParaRPr sz="1400">
              <a:solidFill>
                <a:srgbClr val="A4C2F4"/>
              </a:solidFill>
            </a:endParaRPr>
          </a:p>
          <a:p>
            <a:pPr indent="-304800" lvl="1" marL="914400" rtl="0" algn="l">
              <a:spcBef>
                <a:spcPts val="0"/>
              </a:spcBef>
              <a:spcAft>
                <a:spcPts val="0"/>
              </a:spcAft>
              <a:buSzPts val="1200"/>
              <a:buChar char="○"/>
            </a:pPr>
            <a:r>
              <a:rPr lang="en"/>
              <a:t>Distinct spaces for talking, and kink activities</a:t>
            </a:r>
            <a:br>
              <a:rPr lang="en"/>
            </a:br>
            <a:endParaRPr/>
          </a:p>
          <a:p>
            <a:pPr indent="-317500" lvl="0" marL="457200" rtl="0" algn="l">
              <a:spcBef>
                <a:spcPts val="0"/>
              </a:spcBef>
              <a:spcAft>
                <a:spcPts val="0"/>
              </a:spcAft>
              <a:buClr>
                <a:srgbClr val="A4C2F4"/>
              </a:buClr>
              <a:buSzPts val="1400"/>
              <a:buChar char="●"/>
            </a:pPr>
            <a:r>
              <a:rPr lang="en">
                <a:solidFill>
                  <a:srgbClr val="A4C2F4"/>
                </a:solidFill>
              </a:rPr>
              <a:t>Hygiene</a:t>
            </a:r>
            <a:r>
              <a:rPr lang="en">
                <a:solidFill>
                  <a:srgbClr val="A4C2F4"/>
                </a:solidFill>
              </a:rPr>
              <a:t> Stations</a:t>
            </a:r>
            <a:endParaRPr>
              <a:solidFill>
                <a:srgbClr val="A4C2F4"/>
              </a:solidFill>
            </a:endParaRPr>
          </a:p>
          <a:p>
            <a:pPr indent="-304800" lvl="1" marL="914400" rtl="0" algn="l">
              <a:spcBef>
                <a:spcPts val="0"/>
              </a:spcBef>
              <a:spcAft>
                <a:spcPts val="0"/>
              </a:spcAft>
              <a:buSzPts val="1200"/>
              <a:buChar char="○"/>
            </a:pPr>
            <a:r>
              <a:rPr lang="en"/>
              <a:t>“Chucks”, Cleaning wipes, etc.</a:t>
            </a:r>
            <a:endParaRPr/>
          </a:p>
          <a:p>
            <a:pPr indent="-304800" lvl="1" marL="914400" rtl="0" algn="l">
              <a:spcBef>
                <a:spcPts val="0"/>
              </a:spcBef>
              <a:spcAft>
                <a:spcPts val="0"/>
              </a:spcAft>
              <a:buSzPts val="1200"/>
              <a:buChar char="○"/>
            </a:pPr>
            <a:r>
              <a:rPr lang="en"/>
              <a:t>Some spaces also provide bottled water</a:t>
            </a:r>
            <a:endParaRPr/>
          </a:p>
        </p:txBody>
      </p:sp>
      <p:sp>
        <p:nvSpPr>
          <p:cNvPr id="228" name="Google Shape;228;p3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n">
                <a:solidFill>
                  <a:srgbClr val="FFF2CC"/>
                </a:solidFill>
              </a:rPr>
              <a:t>GOOD</a:t>
            </a:r>
            <a:r>
              <a:rPr lang="en"/>
              <a:t> </a:t>
            </a:r>
            <a:r>
              <a:rPr lang="en">
                <a:solidFill>
                  <a:srgbClr val="A4C2F4"/>
                </a:solidFill>
              </a:rPr>
              <a:t>spaces have a safety crew</a:t>
            </a:r>
            <a:endParaRPr>
              <a:solidFill>
                <a:srgbClr val="A4C2F4"/>
              </a:solidFill>
            </a:endParaRPr>
          </a:p>
          <a:p>
            <a:pPr indent="-304800" lvl="1" marL="914400" rtl="0" algn="l">
              <a:spcBef>
                <a:spcPts val="0"/>
              </a:spcBef>
              <a:spcAft>
                <a:spcPts val="0"/>
              </a:spcAft>
              <a:buSzPts val="1200"/>
              <a:buChar char="○"/>
            </a:pPr>
            <a:r>
              <a:rPr lang="en"/>
              <a:t>Dungeon Monitor(s)</a:t>
            </a:r>
            <a:endParaRPr/>
          </a:p>
          <a:p>
            <a:pPr indent="-304800" lvl="1" marL="914400" rtl="0" algn="l">
              <a:spcBef>
                <a:spcPts val="0"/>
              </a:spcBef>
              <a:spcAft>
                <a:spcPts val="0"/>
              </a:spcAft>
              <a:buSzPts val="1200"/>
              <a:buChar char="○"/>
            </a:pPr>
            <a:r>
              <a:rPr lang="en"/>
              <a:t>Medical Staff</a:t>
            </a:r>
            <a:br>
              <a:rPr lang="en"/>
            </a:br>
            <a:endParaRPr/>
          </a:p>
          <a:p>
            <a:pPr indent="-317500" lvl="0" marL="457200" rtl="0" algn="l">
              <a:spcBef>
                <a:spcPts val="0"/>
              </a:spcBef>
              <a:spcAft>
                <a:spcPts val="0"/>
              </a:spcAft>
              <a:buClr>
                <a:srgbClr val="A4C2F4"/>
              </a:buClr>
              <a:buSzPts val="1400"/>
              <a:buChar char="●"/>
            </a:pPr>
            <a:r>
              <a:rPr lang="en">
                <a:solidFill>
                  <a:srgbClr val="A4C2F4"/>
                </a:solidFill>
              </a:rPr>
              <a:t>Shared “House” equipment</a:t>
            </a:r>
            <a:endParaRPr>
              <a:solidFill>
                <a:srgbClr val="A4C2F4"/>
              </a:solidFill>
            </a:endParaRPr>
          </a:p>
          <a:p>
            <a:pPr indent="-304800" lvl="1" marL="914400" rtl="0" algn="l">
              <a:spcBef>
                <a:spcPts val="0"/>
              </a:spcBef>
              <a:spcAft>
                <a:spcPts val="0"/>
              </a:spcAft>
              <a:buSzPts val="1200"/>
              <a:buChar char="○"/>
            </a:pPr>
            <a:r>
              <a:rPr lang="en"/>
              <a:t>Benches, crosses, maybe some toys, or restraints</a:t>
            </a:r>
            <a:br>
              <a:rPr lang="en"/>
            </a:br>
            <a:endParaRPr/>
          </a:p>
          <a:p>
            <a:pPr indent="-317500" lvl="0" marL="457200" rtl="0" algn="l">
              <a:spcBef>
                <a:spcPts val="0"/>
              </a:spcBef>
              <a:spcAft>
                <a:spcPts val="0"/>
              </a:spcAft>
              <a:buClr>
                <a:srgbClr val="A4C2F4"/>
              </a:buClr>
              <a:buSzPts val="1400"/>
              <a:buChar char="●"/>
            </a:pPr>
            <a:r>
              <a:rPr lang="en">
                <a:solidFill>
                  <a:srgbClr val="A4C2F4"/>
                </a:solidFill>
              </a:rPr>
              <a:t>Naked individuals (often)</a:t>
            </a:r>
            <a:endParaRPr>
              <a:solidFill>
                <a:srgbClr val="A4C2F4"/>
              </a:solidFill>
            </a:endParaRPr>
          </a:p>
          <a:p>
            <a:pPr indent="-304800" lvl="1" marL="914400" rtl="0" algn="l">
              <a:spcBef>
                <a:spcPts val="0"/>
              </a:spcBef>
              <a:spcAft>
                <a:spcPts val="0"/>
              </a:spcAft>
              <a:buSzPts val="1200"/>
              <a:buChar char="○"/>
            </a:pPr>
            <a:r>
              <a:rPr lang="en"/>
              <a:t>Some play spaces require underwear at all times</a:t>
            </a:r>
            <a:br>
              <a:rPr lang="en"/>
            </a:br>
            <a:endParaRPr/>
          </a:p>
          <a:p>
            <a:pPr indent="-317500" lvl="0" marL="457200" rtl="0" algn="l">
              <a:spcBef>
                <a:spcPts val="0"/>
              </a:spcBef>
              <a:spcAft>
                <a:spcPts val="0"/>
              </a:spcAft>
              <a:buClr>
                <a:srgbClr val="A4C2F4"/>
              </a:buClr>
              <a:buSzPts val="1400"/>
              <a:buChar char="●"/>
            </a:pPr>
            <a:r>
              <a:rPr lang="en">
                <a:solidFill>
                  <a:srgbClr val="A4C2F4"/>
                </a:solidFill>
              </a:rPr>
              <a:t>Loud Music</a:t>
            </a:r>
            <a:endParaRPr>
              <a:solidFill>
                <a:srgbClr val="A4C2F4"/>
              </a:solidFill>
            </a:endParaRPr>
          </a:p>
          <a:p>
            <a:pPr indent="-304800" lvl="1" marL="914400" rtl="0" algn="l">
              <a:spcBef>
                <a:spcPts val="0"/>
              </a:spcBef>
              <a:spcAft>
                <a:spcPts val="0"/>
              </a:spcAft>
              <a:buClr>
                <a:schemeClr val="lt2"/>
              </a:buClr>
              <a:buSzPts val="1200"/>
              <a:buChar char="○"/>
            </a:pPr>
            <a:r>
              <a:rPr lang="en">
                <a:solidFill>
                  <a:schemeClr val="lt2"/>
                </a:solidFill>
              </a:rPr>
              <a:t>At least in the play areas</a:t>
            </a:r>
            <a:endParaRPr>
              <a:solidFill>
                <a:schemeClr val="lt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TO EXPECT IN THE DUNGEON</a:t>
            </a:r>
            <a:endParaRPr/>
          </a:p>
        </p:txBody>
      </p:sp>
      <p:sp>
        <p:nvSpPr>
          <p:cNvPr id="234" name="Google Shape;234;p37"/>
          <p:cNvSpPr txBox="1"/>
          <p:nvPr>
            <p:ph idx="1" type="body"/>
          </p:nvPr>
        </p:nvSpPr>
        <p:spPr>
          <a:xfrm>
            <a:off x="311700" y="1141163"/>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Scenes, and the things you will see, and hear.</a:t>
            </a:r>
            <a:endParaRPr/>
          </a:p>
          <a:p>
            <a:pPr indent="-342900" lvl="0" marL="457200" rtl="0" algn="l">
              <a:spcBef>
                <a:spcPts val="1200"/>
              </a:spcBef>
              <a:spcAft>
                <a:spcPts val="0"/>
              </a:spcAft>
              <a:buClr>
                <a:srgbClr val="A4C2F4"/>
              </a:buClr>
              <a:buSzPts val="1800"/>
              <a:buChar char="●"/>
            </a:pPr>
            <a:r>
              <a:rPr lang="en">
                <a:solidFill>
                  <a:srgbClr val="A4C2F4"/>
                </a:solidFill>
              </a:rPr>
              <a:t>Pain, and Pain Accessories</a:t>
            </a:r>
            <a:endParaRPr>
              <a:solidFill>
                <a:srgbClr val="A4C2F4"/>
              </a:solidFill>
            </a:endParaRPr>
          </a:p>
          <a:p>
            <a:pPr indent="-317500" lvl="1" marL="914400" rtl="0" algn="l">
              <a:spcBef>
                <a:spcPts val="0"/>
              </a:spcBef>
              <a:spcAft>
                <a:spcPts val="0"/>
              </a:spcAft>
              <a:buSzPts val="1400"/>
              <a:buChar char="○"/>
            </a:pPr>
            <a:r>
              <a:rPr lang="en"/>
              <a:t>All manner of toys, and implements of kink</a:t>
            </a:r>
            <a:endParaRPr/>
          </a:p>
          <a:p>
            <a:pPr indent="-317500" lvl="1" marL="914400" rtl="0" algn="l">
              <a:spcBef>
                <a:spcPts val="0"/>
              </a:spcBef>
              <a:spcAft>
                <a:spcPts val="0"/>
              </a:spcAft>
              <a:buSzPts val="1400"/>
              <a:buChar char="○"/>
            </a:pPr>
            <a:r>
              <a:rPr lang="en"/>
              <a:t>More emotions than you can shake a stick at</a:t>
            </a:r>
            <a:br>
              <a:rPr lang="en"/>
            </a:br>
            <a:endParaRPr/>
          </a:p>
          <a:p>
            <a:pPr indent="-342900" lvl="0" marL="457200" rtl="0" algn="l">
              <a:spcBef>
                <a:spcPts val="0"/>
              </a:spcBef>
              <a:spcAft>
                <a:spcPts val="0"/>
              </a:spcAft>
              <a:buClr>
                <a:srgbClr val="A4C2F4"/>
              </a:buClr>
              <a:buSzPts val="1800"/>
              <a:buChar char="●"/>
            </a:pPr>
            <a:r>
              <a:rPr lang="en">
                <a:solidFill>
                  <a:srgbClr val="A4C2F4"/>
                </a:solidFill>
              </a:rPr>
              <a:t>Blood, Bruises, Laughter</a:t>
            </a:r>
            <a:endParaRPr>
              <a:solidFill>
                <a:srgbClr val="A4C2F4"/>
              </a:solidFill>
            </a:endParaRPr>
          </a:p>
          <a:p>
            <a:pPr indent="-317500" lvl="1" marL="914400" rtl="0" algn="l">
              <a:spcBef>
                <a:spcPts val="0"/>
              </a:spcBef>
              <a:spcAft>
                <a:spcPts val="0"/>
              </a:spcAft>
              <a:buSzPts val="1400"/>
              <a:buChar char="○"/>
            </a:pPr>
            <a:r>
              <a:rPr lang="en"/>
              <a:t>Most impact scenes leave marks or break the skin</a:t>
            </a:r>
            <a:endParaRPr/>
          </a:p>
          <a:p>
            <a:pPr indent="-317500" lvl="1" marL="914400" rtl="0" algn="l">
              <a:spcBef>
                <a:spcPts val="0"/>
              </a:spcBef>
              <a:spcAft>
                <a:spcPts val="0"/>
              </a:spcAft>
              <a:buSzPts val="1400"/>
              <a:buChar char="○"/>
            </a:pPr>
            <a:r>
              <a:rPr lang="en"/>
              <a:t>Laughter is more common than you might thin</a:t>
            </a:r>
            <a:r>
              <a:rPr lang="en"/>
              <a:t>k</a:t>
            </a:r>
            <a:br>
              <a:rPr lang="en"/>
            </a:br>
            <a:endParaRPr/>
          </a:p>
          <a:p>
            <a:pPr indent="-342900" lvl="0" marL="457200" rtl="0" algn="l">
              <a:spcBef>
                <a:spcPts val="0"/>
              </a:spcBef>
              <a:spcAft>
                <a:spcPts val="0"/>
              </a:spcAft>
              <a:buClr>
                <a:srgbClr val="A4C2F4"/>
              </a:buClr>
              <a:buSzPts val="1800"/>
              <a:buChar char="●"/>
            </a:pPr>
            <a:r>
              <a:rPr lang="en">
                <a:solidFill>
                  <a:srgbClr val="A4C2F4"/>
                </a:solidFill>
              </a:rPr>
              <a:t>People watching (quietly)</a:t>
            </a:r>
            <a:endParaRPr>
              <a:solidFill>
                <a:srgbClr val="A4C2F4"/>
              </a:solidFill>
            </a:endParaRPr>
          </a:p>
          <a:p>
            <a:pPr indent="-317500" lvl="1" marL="914400" rtl="0" algn="l">
              <a:spcBef>
                <a:spcPts val="0"/>
              </a:spcBef>
              <a:spcAft>
                <a:spcPts val="0"/>
              </a:spcAft>
              <a:buSzPts val="1400"/>
              <a:buChar char="○"/>
            </a:pPr>
            <a:r>
              <a:rPr i="1" lang="en"/>
              <a:t>Public </a:t>
            </a:r>
            <a:r>
              <a:rPr lang="en"/>
              <a:t>(in the open) scenes are look but don’t touch</a:t>
            </a:r>
            <a:endParaRPr/>
          </a:p>
        </p:txBody>
      </p:sp>
      <p:sp>
        <p:nvSpPr>
          <p:cNvPr id="235" name="Google Shape;235;p3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Play Party </a:t>
            </a:r>
            <a:r>
              <a:rPr lang="en"/>
              <a:t>Etiquette</a:t>
            </a:r>
            <a:endParaRPr/>
          </a:p>
        </p:txBody>
      </p:sp>
      <p:sp>
        <p:nvSpPr>
          <p:cNvPr id="241" name="Google Shape;241;p3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PARTY </a:t>
            </a:r>
            <a:r>
              <a:rPr lang="en"/>
              <a:t>ETIQUETTE - GENERALIZED</a:t>
            </a:r>
            <a:endParaRPr/>
          </a:p>
        </p:txBody>
      </p:sp>
      <p:sp>
        <p:nvSpPr>
          <p:cNvPr id="247" name="Google Shape;247;p3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Clr>
                <a:srgbClr val="FFF2CC"/>
              </a:buClr>
              <a:buSzPts val="1400"/>
              <a:buChar char="●"/>
            </a:pPr>
            <a:r>
              <a:rPr b="1" lang="en">
                <a:solidFill>
                  <a:srgbClr val="FFF2CC"/>
                </a:solidFill>
              </a:rPr>
              <a:t>FOLLOW THE HOUSE RULES</a:t>
            </a:r>
            <a:endParaRPr b="1">
              <a:solidFill>
                <a:srgbClr val="FFF2CC"/>
              </a:solidFill>
            </a:endParaRPr>
          </a:p>
          <a:p>
            <a:pPr indent="-304800" lvl="1" marL="914400" rtl="0" algn="l">
              <a:spcBef>
                <a:spcPts val="0"/>
              </a:spcBef>
              <a:spcAft>
                <a:spcPts val="0"/>
              </a:spcAft>
              <a:buSzPts val="1200"/>
              <a:buChar char="○"/>
            </a:pPr>
            <a:r>
              <a:rPr b="1" lang="en"/>
              <a:t>All rules set by the space override anything written here</a:t>
            </a:r>
            <a:br>
              <a:rPr b="1" lang="en"/>
            </a:br>
            <a:endParaRPr b="1"/>
          </a:p>
          <a:p>
            <a:pPr indent="-317500" lvl="0" marL="457200" rtl="0" algn="l">
              <a:spcBef>
                <a:spcPts val="0"/>
              </a:spcBef>
              <a:spcAft>
                <a:spcPts val="0"/>
              </a:spcAft>
              <a:buClr>
                <a:srgbClr val="A4C2F4"/>
              </a:buClr>
              <a:buSzPts val="1400"/>
              <a:buChar char="●"/>
            </a:pPr>
            <a:r>
              <a:rPr b="1" lang="en">
                <a:solidFill>
                  <a:srgbClr val="A4C2F4"/>
                </a:solidFill>
              </a:rPr>
              <a:t>No Devices Allowed!</a:t>
            </a:r>
            <a:endParaRPr b="1">
              <a:solidFill>
                <a:srgbClr val="A4C2F4"/>
              </a:solidFill>
            </a:endParaRPr>
          </a:p>
          <a:p>
            <a:pPr indent="-304800" lvl="1" marL="914400" rtl="0" algn="l">
              <a:spcBef>
                <a:spcPts val="0"/>
              </a:spcBef>
              <a:spcAft>
                <a:spcPts val="0"/>
              </a:spcAft>
              <a:buSzPts val="1200"/>
              <a:buChar char="○"/>
            </a:pPr>
            <a:r>
              <a:rPr b="1" lang="en"/>
              <a:t>No cellphones, no cameras, no recording devices are allowed</a:t>
            </a:r>
            <a:endParaRPr b="1"/>
          </a:p>
          <a:p>
            <a:pPr indent="-304800" lvl="1" marL="914400" rtl="0" algn="l">
              <a:spcBef>
                <a:spcPts val="0"/>
              </a:spcBef>
              <a:spcAft>
                <a:spcPts val="0"/>
              </a:spcAft>
              <a:buSzPts val="1200"/>
              <a:buChar char="○"/>
            </a:pPr>
            <a:r>
              <a:rPr b="1" lang="en"/>
              <a:t>A lot of spaces have designated photographers.  </a:t>
            </a:r>
            <a:br>
              <a:rPr b="1" lang="en"/>
            </a:br>
            <a:endParaRPr b="1"/>
          </a:p>
          <a:p>
            <a:pPr indent="-317500" lvl="0" marL="457200" rtl="0" algn="l">
              <a:spcBef>
                <a:spcPts val="0"/>
              </a:spcBef>
              <a:spcAft>
                <a:spcPts val="0"/>
              </a:spcAft>
              <a:buClr>
                <a:srgbClr val="A4C2F4"/>
              </a:buClr>
              <a:buSzPts val="1400"/>
              <a:buChar char="●"/>
            </a:pPr>
            <a:r>
              <a:rPr lang="en">
                <a:solidFill>
                  <a:srgbClr val="A4C2F4"/>
                </a:solidFill>
              </a:rPr>
              <a:t>Zero tolerance policies (No Alcohol, Drugs)</a:t>
            </a:r>
            <a:endParaRPr>
              <a:solidFill>
                <a:srgbClr val="A4C2F4"/>
              </a:solidFill>
            </a:endParaRPr>
          </a:p>
          <a:p>
            <a:pPr indent="-304800" lvl="1" marL="914400" rtl="0" algn="l">
              <a:spcBef>
                <a:spcPts val="0"/>
              </a:spcBef>
              <a:spcAft>
                <a:spcPts val="0"/>
              </a:spcAft>
              <a:buSzPts val="1200"/>
              <a:buChar char="○"/>
            </a:pPr>
            <a:r>
              <a:rPr lang="en"/>
              <a:t>Places that are generally considered safe for play have zero tolerance policies for drugs, and alcohol.</a:t>
            </a:r>
            <a:br>
              <a:rPr lang="en"/>
            </a:br>
            <a:endParaRPr/>
          </a:p>
          <a:p>
            <a:pPr indent="-317500" lvl="0" marL="457200" rtl="0" algn="l">
              <a:spcBef>
                <a:spcPts val="0"/>
              </a:spcBef>
              <a:spcAft>
                <a:spcPts val="0"/>
              </a:spcAft>
              <a:buClr>
                <a:srgbClr val="A4C2F4"/>
              </a:buClr>
              <a:buSzPts val="1400"/>
              <a:buChar char="●"/>
            </a:pPr>
            <a:r>
              <a:rPr lang="en">
                <a:solidFill>
                  <a:srgbClr val="A4C2F4"/>
                </a:solidFill>
              </a:rPr>
              <a:t>Keep food, and drink to the designated areas</a:t>
            </a:r>
            <a:endParaRPr/>
          </a:p>
          <a:p>
            <a:pPr indent="-304800" lvl="1" marL="914400" rtl="0" algn="l">
              <a:spcBef>
                <a:spcPts val="0"/>
              </a:spcBef>
              <a:spcAft>
                <a:spcPts val="0"/>
              </a:spcAft>
              <a:buSzPts val="1200"/>
              <a:buChar char="○"/>
            </a:pPr>
            <a:r>
              <a:rPr lang="en"/>
              <a:t>Drinks with sealed containers may be</a:t>
            </a:r>
            <a:endParaRPr/>
          </a:p>
        </p:txBody>
      </p:sp>
      <p:sp>
        <p:nvSpPr>
          <p:cNvPr id="249" name="Google Shape;249;p3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Clr>
                <a:srgbClr val="A4C2F4"/>
              </a:buClr>
              <a:buSzPts val="1400"/>
              <a:buChar char="●"/>
            </a:pPr>
            <a:r>
              <a:rPr lang="en">
                <a:solidFill>
                  <a:srgbClr val="A4C2F4"/>
                </a:solidFill>
              </a:rPr>
              <a:t>The “Grandma Rule”</a:t>
            </a:r>
            <a:endParaRPr>
              <a:solidFill>
                <a:srgbClr val="A4C2F4"/>
              </a:solidFill>
            </a:endParaRPr>
          </a:p>
          <a:p>
            <a:pPr indent="-304800" lvl="1" marL="914400" rtl="0" algn="l">
              <a:spcBef>
                <a:spcPts val="0"/>
              </a:spcBef>
              <a:spcAft>
                <a:spcPts val="0"/>
              </a:spcAft>
              <a:buSzPts val="1200"/>
              <a:buChar char="○"/>
            </a:pPr>
            <a:r>
              <a:rPr lang="en"/>
              <a:t>While outside of the space, dress like you would if you were visiting Grandma</a:t>
            </a:r>
            <a:br>
              <a:rPr lang="en">
                <a:solidFill>
                  <a:srgbClr val="A4C2F4"/>
                </a:solidFill>
              </a:rPr>
            </a:br>
            <a:endParaRPr>
              <a:solidFill>
                <a:srgbClr val="A4C2F4"/>
              </a:solidFill>
            </a:endParaRPr>
          </a:p>
          <a:p>
            <a:pPr indent="-317500" lvl="0" marL="457200" rtl="0" algn="l">
              <a:spcBef>
                <a:spcPts val="0"/>
              </a:spcBef>
              <a:spcAft>
                <a:spcPts val="0"/>
              </a:spcAft>
              <a:buClr>
                <a:srgbClr val="A4C2F4"/>
              </a:buClr>
              <a:buSzPts val="1400"/>
              <a:buChar char="●"/>
            </a:pPr>
            <a:r>
              <a:rPr lang="en">
                <a:solidFill>
                  <a:srgbClr val="A4C2F4"/>
                </a:solidFill>
              </a:rPr>
              <a:t>Looking is okay, but touching is not</a:t>
            </a:r>
            <a:endParaRPr>
              <a:solidFill>
                <a:srgbClr val="A4C2F4"/>
              </a:solidFill>
            </a:endParaRPr>
          </a:p>
          <a:p>
            <a:pPr indent="-304800" lvl="1" marL="914400" rtl="0" algn="l">
              <a:spcBef>
                <a:spcPts val="0"/>
              </a:spcBef>
              <a:spcAft>
                <a:spcPts val="0"/>
              </a:spcAft>
              <a:buSzPts val="1200"/>
              <a:buChar char="○"/>
            </a:pPr>
            <a:r>
              <a:rPr lang="en"/>
              <a:t>Folks in all manner of undress are expecting others to look.  This does not constitute an invitation for anything else.</a:t>
            </a:r>
            <a:br>
              <a:rPr lang="en"/>
            </a:br>
            <a:endParaRPr/>
          </a:p>
          <a:p>
            <a:pPr indent="-317500" lvl="0" marL="457200" rtl="0" algn="l">
              <a:spcBef>
                <a:spcPts val="0"/>
              </a:spcBef>
              <a:spcAft>
                <a:spcPts val="0"/>
              </a:spcAft>
              <a:buClr>
                <a:srgbClr val="A4C2F4"/>
              </a:buClr>
              <a:buSzPts val="1400"/>
              <a:buChar char="●"/>
            </a:pPr>
            <a:r>
              <a:rPr lang="en">
                <a:solidFill>
                  <a:srgbClr val="A4C2F4"/>
                </a:solidFill>
              </a:rPr>
              <a:t>Respectful Commentary</a:t>
            </a:r>
            <a:endParaRPr>
              <a:solidFill>
                <a:srgbClr val="A4C2F4"/>
              </a:solidFill>
            </a:endParaRPr>
          </a:p>
          <a:p>
            <a:pPr indent="-304800" lvl="1" marL="914400" rtl="0" algn="l">
              <a:spcBef>
                <a:spcPts val="0"/>
              </a:spcBef>
              <a:spcAft>
                <a:spcPts val="0"/>
              </a:spcAft>
              <a:buSzPts val="1200"/>
              <a:buChar char="○"/>
            </a:pPr>
            <a:r>
              <a:rPr lang="en"/>
              <a:t>Not everyone wants to be called “hot”</a:t>
            </a:r>
            <a:br>
              <a:rPr lang="en"/>
            </a:br>
            <a:endParaRPr/>
          </a:p>
          <a:p>
            <a:pPr indent="-317500" lvl="0" marL="457200" rtl="0" algn="l">
              <a:spcBef>
                <a:spcPts val="0"/>
              </a:spcBef>
              <a:spcAft>
                <a:spcPts val="0"/>
              </a:spcAft>
              <a:buClr>
                <a:srgbClr val="A4C2F4"/>
              </a:buClr>
              <a:buSzPts val="1400"/>
              <a:buChar char="●"/>
            </a:pPr>
            <a:r>
              <a:rPr lang="en">
                <a:solidFill>
                  <a:srgbClr val="A4C2F4"/>
                </a:solidFill>
              </a:rPr>
              <a:t>If you see something, say something</a:t>
            </a:r>
            <a:endParaRPr>
              <a:solidFill>
                <a:srgbClr val="A4C2F4"/>
              </a:solidFill>
            </a:endParaRPr>
          </a:p>
          <a:p>
            <a:pPr indent="-304800" lvl="1" marL="914400" rtl="0" algn="l">
              <a:spcBef>
                <a:spcPts val="0"/>
              </a:spcBef>
              <a:spcAft>
                <a:spcPts val="0"/>
              </a:spcAft>
              <a:buSzPts val="1200"/>
              <a:buChar char="○"/>
            </a:pPr>
            <a:r>
              <a:rPr lang="en"/>
              <a:t>If something feels “off”, please inform a member of the party staff.</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PARTY ETIQUETTE - IN THE PLAY AREAS</a:t>
            </a:r>
            <a:endParaRPr/>
          </a:p>
        </p:txBody>
      </p:sp>
      <p:sp>
        <p:nvSpPr>
          <p:cNvPr id="255" name="Google Shape;255;p4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Clr>
                <a:srgbClr val="A4C2F4"/>
              </a:buClr>
              <a:buSzPts val="1400"/>
              <a:buChar char="●"/>
            </a:pPr>
            <a:r>
              <a:rPr lang="en" sz="1400">
                <a:solidFill>
                  <a:srgbClr val="A4C2F4"/>
                </a:solidFill>
              </a:rPr>
              <a:t>Keep chit-chat to a </a:t>
            </a:r>
            <a:r>
              <a:rPr i="1" lang="en" sz="1400">
                <a:solidFill>
                  <a:srgbClr val="A4C2F4"/>
                </a:solidFill>
              </a:rPr>
              <a:t>minimum</a:t>
            </a:r>
            <a:endParaRPr i="1" sz="1400">
              <a:solidFill>
                <a:srgbClr val="A4C2F4"/>
              </a:solidFill>
            </a:endParaRPr>
          </a:p>
          <a:p>
            <a:pPr indent="-304800" lvl="1" marL="914400" rtl="0" algn="l">
              <a:spcBef>
                <a:spcPts val="0"/>
              </a:spcBef>
              <a:spcAft>
                <a:spcPts val="0"/>
              </a:spcAft>
              <a:buSzPts val="1200"/>
              <a:buChar char="○"/>
            </a:pPr>
            <a:r>
              <a:rPr lang="en" sz="1200"/>
              <a:t>A lot of scenes require the participants to focus.  Talking is disruptive.</a:t>
            </a:r>
            <a:br>
              <a:rPr lang="en" sz="1200"/>
            </a:br>
            <a:endParaRPr sz="1200"/>
          </a:p>
          <a:p>
            <a:pPr indent="-317500" lvl="0" marL="457200" rtl="0" algn="l">
              <a:spcBef>
                <a:spcPts val="0"/>
              </a:spcBef>
              <a:spcAft>
                <a:spcPts val="0"/>
              </a:spcAft>
              <a:buClr>
                <a:srgbClr val="A4C2F4"/>
              </a:buClr>
              <a:buSzPts val="1400"/>
              <a:buChar char="●"/>
            </a:pPr>
            <a:r>
              <a:rPr lang="en" sz="1400">
                <a:solidFill>
                  <a:srgbClr val="A4C2F4"/>
                </a:solidFill>
              </a:rPr>
              <a:t>Pay </a:t>
            </a:r>
            <a:r>
              <a:rPr lang="en">
                <a:solidFill>
                  <a:srgbClr val="A4C2F4"/>
                </a:solidFill>
              </a:rPr>
              <a:t>a</a:t>
            </a:r>
            <a:r>
              <a:rPr lang="en" sz="1400">
                <a:solidFill>
                  <a:srgbClr val="A4C2F4"/>
                </a:solidFill>
              </a:rPr>
              <a:t>ttention</a:t>
            </a:r>
            <a:r>
              <a:rPr lang="en">
                <a:solidFill>
                  <a:srgbClr val="A4C2F4"/>
                </a:solidFill>
              </a:rPr>
              <a:t> </a:t>
            </a:r>
            <a:r>
              <a:rPr lang="en" sz="1400">
                <a:solidFill>
                  <a:srgbClr val="A4C2F4"/>
                </a:solidFill>
              </a:rPr>
              <a:t>to our surroundings!</a:t>
            </a:r>
            <a:endParaRPr sz="1400">
              <a:solidFill>
                <a:srgbClr val="A4C2F4"/>
              </a:solidFill>
            </a:endParaRPr>
          </a:p>
          <a:p>
            <a:pPr indent="-304800" lvl="1" marL="914400" rtl="0" algn="l">
              <a:spcBef>
                <a:spcPts val="0"/>
              </a:spcBef>
              <a:spcAft>
                <a:spcPts val="0"/>
              </a:spcAft>
              <a:buSzPts val="1200"/>
              <a:buChar char="○"/>
            </a:pPr>
            <a:r>
              <a:rPr lang="en" sz="1200"/>
              <a:t>Gear on the floor</a:t>
            </a:r>
            <a:endParaRPr sz="1200"/>
          </a:p>
          <a:p>
            <a:pPr indent="-304800" lvl="1" marL="914400" rtl="0" algn="l">
              <a:spcBef>
                <a:spcPts val="0"/>
              </a:spcBef>
              <a:spcAft>
                <a:spcPts val="0"/>
              </a:spcAft>
              <a:buSzPts val="1200"/>
              <a:buChar char="○"/>
            </a:pPr>
            <a:r>
              <a:rPr lang="en" sz="1200"/>
              <a:t>Swinging implements</a:t>
            </a:r>
            <a:endParaRPr sz="1200"/>
          </a:p>
          <a:p>
            <a:pPr indent="-304800" lvl="1" marL="914400" rtl="0" algn="l">
              <a:spcBef>
                <a:spcPts val="0"/>
              </a:spcBef>
              <a:spcAft>
                <a:spcPts val="0"/>
              </a:spcAft>
              <a:buSzPts val="1200"/>
              <a:buChar char="○"/>
            </a:pPr>
            <a:r>
              <a:rPr lang="en" sz="1200"/>
              <a:t>Individuals trying to watch a scene</a:t>
            </a:r>
            <a:br>
              <a:rPr lang="en" sz="1200"/>
            </a:br>
            <a:endParaRPr sz="1200"/>
          </a:p>
          <a:p>
            <a:pPr indent="-317500" lvl="0" marL="457200" rtl="0" algn="l">
              <a:spcBef>
                <a:spcPts val="0"/>
              </a:spcBef>
              <a:spcAft>
                <a:spcPts val="0"/>
              </a:spcAft>
              <a:buClr>
                <a:srgbClr val="A4C2F4"/>
              </a:buClr>
              <a:buSzPts val="1400"/>
              <a:buChar char="●"/>
            </a:pPr>
            <a:r>
              <a:rPr lang="en" sz="1400">
                <a:solidFill>
                  <a:srgbClr val="A4C2F4"/>
                </a:solidFill>
              </a:rPr>
              <a:t>Keep pathways clear!</a:t>
            </a:r>
            <a:endParaRPr sz="1400">
              <a:solidFill>
                <a:srgbClr val="A4C2F4"/>
              </a:solidFill>
            </a:endParaRPr>
          </a:p>
          <a:p>
            <a:pPr indent="-304800" lvl="1" marL="914400" rtl="0" algn="l">
              <a:spcBef>
                <a:spcPts val="0"/>
              </a:spcBef>
              <a:spcAft>
                <a:spcPts val="0"/>
              </a:spcAft>
              <a:buSzPts val="1200"/>
              <a:buChar char="○"/>
            </a:pPr>
            <a:r>
              <a:rPr lang="en"/>
              <a:t>You, and your stuff should be out of the way</a:t>
            </a:r>
            <a:br>
              <a:rPr lang="en" sz="1200"/>
            </a:br>
            <a:endParaRPr sz="1200"/>
          </a:p>
          <a:p>
            <a:pPr indent="-317500" lvl="0" marL="457200" rtl="0" algn="l">
              <a:spcBef>
                <a:spcPts val="0"/>
              </a:spcBef>
              <a:spcAft>
                <a:spcPts val="0"/>
              </a:spcAft>
              <a:buClr>
                <a:srgbClr val="A4C2F4"/>
              </a:buClr>
              <a:buSzPts val="1400"/>
              <a:buChar char="●"/>
            </a:pPr>
            <a:r>
              <a:rPr lang="en" sz="1400">
                <a:solidFill>
                  <a:srgbClr val="A4C2F4"/>
                </a:solidFill>
              </a:rPr>
              <a:t>Voyeurism is Expected</a:t>
            </a:r>
            <a:endParaRPr sz="1400">
              <a:solidFill>
                <a:srgbClr val="A4C2F4"/>
              </a:solidFill>
            </a:endParaRPr>
          </a:p>
          <a:p>
            <a:pPr indent="-304800" lvl="1" marL="914400" rtl="0" algn="l">
              <a:spcBef>
                <a:spcPts val="0"/>
              </a:spcBef>
              <a:spcAft>
                <a:spcPts val="0"/>
              </a:spcAft>
              <a:buSzPts val="1200"/>
              <a:buChar char="○"/>
            </a:pPr>
            <a:r>
              <a:rPr lang="en" sz="1200"/>
              <a:t>Scenes in open spaces are open to folks watching quietly</a:t>
            </a:r>
            <a:endParaRPr sz="1200"/>
          </a:p>
          <a:p>
            <a:pPr indent="-304800" lvl="1" marL="914400" rtl="0" algn="l">
              <a:spcBef>
                <a:spcPts val="0"/>
              </a:spcBef>
              <a:spcAft>
                <a:spcPts val="0"/>
              </a:spcAft>
              <a:buSzPts val="1200"/>
              <a:buChar char="○"/>
            </a:pPr>
            <a:r>
              <a:rPr lang="en" sz="1200"/>
              <a:t>Keep a respectful distance as the space allows</a:t>
            </a:r>
            <a:endParaRPr>
              <a:solidFill>
                <a:srgbClr val="A4C2F4"/>
              </a:solidFill>
            </a:endParaRPr>
          </a:p>
        </p:txBody>
      </p:sp>
      <p:sp>
        <p:nvSpPr>
          <p:cNvPr id="256" name="Google Shape;256;p4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Clr>
                <a:srgbClr val="A4C2F4"/>
              </a:buClr>
              <a:buSzPts val="1400"/>
              <a:buChar char="●"/>
            </a:pPr>
            <a:r>
              <a:rPr lang="en">
                <a:solidFill>
                  <a:srgbClr val="A4C2F4"/>
                </a:solidFill>
              </a:rPr>
              <a:t>Borrowing | Using House Equipment</a:t>
            </a:r>
            <a:endParaRPr>
              <a:solidFill>
                <a:srgbClr val="A4C2F4"/>
              </a:solidFill>
            </a:endParaRPr>
          </a:p>
          <a:p>
            <a:pPr indent="-304800" lvl="1" marL="914400" rtl="0" algn="l">
              <a:spcBef>
                <a:spcPts val="0"/>
              </a:spcBef>
              <a:spcAft>
                <a:spcPts val="0"/>
              </a:spcAft>
              <a:buSzPts val="1200"/>
              <a:buChar char="○"/>
            </a:pPr>
            <a:r>
              <a:rPr lang="en"/>
              <a:t>Follow rules as provided</a:t>
            </a:r>
            <a:endParaRPr/>
          </a:p>
          <a:p>
            <a:pPr indent="-304800" lvl="1" marL="914400" rtl="0" algn="l">
              <a:spcBef>
                <a:spcPts val="0"/>
              </a:spcBef>
              <a:spcAft>
                <a:spcPts val="0"/>
              </a:spcAft>
              <a:buSzPts val="1200"/>
              <a:buChar char="○"/>
            </a:pPr>
            <a:r>
              <a:rPr lang="en"/>
              <a:t>Use “chucks”, towels, blankets where bare skin might touch</a:t>
            </a:r>
            <a:endParaRPr/>
          </a:p>
          <a:p>
            <a:pPr indent="-304800" lvl="1" marL="914400" rtl="0" algn="l">
              <a:spcBef>
                <a:spcPts val="0"/>
              </a:spcBef>
              <a:spcAft>
                <a:spcPts val="0"/>
              </a:spcAft>
              <a:buSzPts val="1200"/>
              <a:buChar char="○"/>
            </a:pPr>
            <a:r>
              <a:rPr lang="en"/>
              <a:t>Clean up, and wipe down the equipment afterwards</a:t>
            </a:r>
            <a:br>
              <a:rPr lang="en"/>
            </a:br>
            <a:endParaRPr/>
          </a:p>
          <a:p>
            <a:pPr indent="-317500" lvl="0" marL="457200" rtl="0" algn="l">
              <a:spcBef>
                <a:spcPts val="0"/>
              </a:spcBef>
              <a:spcAft>
                <a:spcPts val="0"/>
              </a:spcAft>
              <a:buClr>
                <a:srgbClr val="A4C2F4"/>
              </a:buClr>
              <a:buSzPts val="1400"/>
              <a:buChar char="●"/>
            </a:pPr>
            <a:r>
              <a:rPr lang="en">
                <a:solidFill>
                  <a:srgbClr val="A4C2F4"/>
                </a:solidFill>
              </a:rPr>
              <a:t>Be mindful of the time</a:t>
            </a:r>
            <a:endParaRPr>
              <a:solidFill>
                <a:srgbClr val="A4C2F4"/>
              </a:solidFill>
            </a:endParaRPr>
          </a:p>
          <a:p>
            <a:pPr indent="-304800" lvl="1" marL="914400" rtl="0" algn="l">
              <a:spcBef>
                <a:spcPts val="0"/>
              </a:spcBef>
              <a:spcAft>
                <a:spcPts val="0"/>
              </a:spcAft>
              <a:buSzPts val="1200"/>
              <a:buChar char="○"/>
            </a:pPr>
            <a:r>
              <a:rPr lang="en"/>
              <a:t>Other people will want to use a given </a:t>
            </a:r>
            <a:r>
              <a:rPr lang="en"/>
              <a:t>space or piece of equipment.  Do your scene, and move on.</a:t>
            </a:r>
            <a:br>
              <a:rPr lang="en"/>
            </a:br>
            <a:endParaRPr/>
          </a:p>
          <a:p>
            <a:pPr indent="-317500" lvl="0" marL="457200" rtl="0" algn="l">
              <a:spcBef>
                <a:spcPts val="0"/>
              </a:spcBef>
              <a:spcAft>
                <a:spcPts val="0"/>
              </a:spcAft>
              <a:buClr>
                <a:srgbClr val="A4C2F4"/>
              </a:buClr>
              <a:buSzPts val="1400"/>
              <a:buChar char="●"/>
            </a:pPr>
            <a:r>
              <a:rPr lang="en">
                <a:solidFill>
                  <a:srgbClr val="A4C2F4"/>
                </a:solidFill>
              </a:rPr>
              <a:t>The Aftercare Space</a:t>
            </a:r>
            <a:endParaRPr>
              <a:solidFill>
                <a:srgbClr val="A4C2F4"/>
              </a:solidFill>
            </a:endParaRPr>
          </a:p>
          <a:p>
            <a:pPr indent="-304800" lvl="1" marL="914400" rtl="0" algn="l">
              <a:spcBef>
                <a:spcPts val="0"/>
              </a:spcBef>
              <a:spcAft>
                <a:spcPts val="0"/>
              </a:spcAft>
              <a:buSzPts val="1200"/>
              <a:buChar char="○"/>
            </a:pPr>
            <a:r>
              <a:rPr lang="en"/>
              <a:t>Aftercare rooms are places for folks to cool down after a scene</a:t>
            </a:r>
            <a:endParaRPr/>
          </a:p>
          <a:p>
            <a:pPr indent="-304800" lvl="1" marL="914400" rtl="0" algn="l">
              <a:spcBef>
                <a:spcPts val="0"/>
              </a:spcBef>
              <a:spcAft>
                <a:spcPts val="0"/>
              </a:spcAft>
              <a:buSzPts val="1200"/>
              <a:buChar char="○"/>
            </a:pPr>
            <a:r>
              <a:rPr lang="en"/>
              <a:t>Not a place to have sex</a:t>
            </a:r>
            <a:endParaRPr/>
          </a:p>
          <a:p>
            <a:pPr indent="-304800" lvl="1" marL="914400" rtl="0" algn="l">
              <a:spcBef>
                <a:spcPts val="0"/>
              </a:spcBef>
              <a:spcAft>
                <a:spcPts val="0"/>
              </a:spcAft>
              <a:buSzPts val="1200"/>
              <a:buChar char="○"/>
            </a:pPr>
            <a:r>
              <a:rPr lang="en"/>
              <a:t>Semi-private, leave them be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1"/>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Best Practices</a:t>
            </a:r>
            <a:endParaRPr/>
          </a:p>
        </p:txBody>
      </p:sp>
      <p:sp>
        <p:nvSpPr>
          <p:cNvPr id="263" name="Google Shape;263;p4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PRACTICES (Generalized)</a:t>
            </a:r>
            <a:endParaRPr/>
          </a:p>
        </p:txBody>
      </p:sp>
      <p:sp>
        <p:nvSpPr>
          <p:cNvPr id="269" name="Google Shape;269;p4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0" name="Google Shape;270;p4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A4C2F4"/>
              </a:buClr>
              <a:buSzPts val="1800"/>
              <a:buChar char="●"/>
            </a:pPr>
            <a:r>
              <a:rPr lang="en" sz="1800">
                <a:solidFill>
                  <a:srgbClr val="A4C2F4"/>
                </a:solidFill>
              </a:rPr>
              <a:t>Go to Munches</a:t>
            </a:r>
            <a:endParaRPr sz="1800">
              <a:solidFill>
                <a:srgbClr val="A4C2F4"/>
              </a:solidFill>
            </a:endParaRPr>
          </a:p>
          <a:p>
            <a:pPr indent="-317500" lvl="1" marL="914400" rtl="0" algn="l">
              <a:spcBef>
                <a:spcPts val="0"/>
              </a:spcBef>
              <a:spcAft>
                <a:spcPts val="0"/>
              </a:spcAft>
              <a:buSzPts val="1400"/>
              <a:buChar char="○"/>
            </a:pPr>
            <a:r>
              <a:rPr lang="en" sz="1400"/>
              <a:t>Arguably the </a:t>
            </a:r>
            <a:r>
              <a:rPr i="1" lang="en" sz="1400"/>
              <a:t>best</a:t>
            </a:r>
            <a:r>
              <a:rPr lang="en" sz="1400"/>
              <a:t> way to meet folks</a:t>
            </a:r>
            <a:endParaRPr sz="1400"/>
          </a:p>
          <a:p>
            <a:pPr indent="-317500" lvl="1" marL="914400" rtl="0" algn="l">
              <a:spcBef>
                <a:spcPts val="0"/>
              </a:spcBef>
              <a:spcAft>
                <a:spcPts val="0"/>
              </a:spcAft>
              <a:buSzPts val="1400"/>
              <a:buChar char="○"/>
            </a:pPr>
            <a:r>
              <a:rPr lang="en" sz="1400"/>
              <a:t>More room for real conversation, and connections</a:t>
            </a:r>
            <a:br>
              <a:rPr lang="en" sz="1400"/>
            </a:br>
            <a:endParaRPr sz="1400"/>
          </a:p>
          <a:p>
            <a:pPr indent="-342900" lvl="0" marL="457200" rtl="0" algn="l">
              <a:spcBef>
                <a:spcPts val="0"/>
              </a:spcBef>
              <a:spcAft>
                <a:spcPts val="0"/>
              </a:spcAft>
              <a:buClr>
                <a:srgbClr val="A4C2F4"/>
              </a:buClr>
              <a:buSzPts val="1800"/>
              <a:buChar char="●"/>
            </a:pPr>
            <a:r>
              <a:rPr lang="en" sz="1800">
                <a:solidFill>
                  <a:srgbClr val="A4C2F4"/>
                </a:solidFill>
              </a:rPr>
              <a:t>Don’t rush into anything</a:t>
            </a:r>
            <a:endParaRPr sz="1800">
              <a:solidFill>
                <a:srgbClr val="A4C2F4"/>
              </a:solidFill>
            </a:endParaRPr>
          </a:p>
          <a:p>
            <a:pPr indent="-317500" lvl="1" marL="914400" rtl="0" algn="l">
              <a:spcBef>
                <a:spcPts val="0"/>
              </a:spcBef>
              <a:spcAft>
                <a:spcPts val="0"/>
              </a:spcAft>
              <a:buSzPts val="1400"/>
              <a:buChar char="○"/>
            </a:pPr>
            <a:r>
              <a:rPr lang="en" sz="1400"/>
              <a:t>You absolutely do not need to be in a dynamic to enjoy kink!</a:t>
            </a:r>
            <a:br>
              <a:rPr lang="en" sz="1400"/>
            </a:br>
            <a:endParaRPr sz="1400"/>
          </a:p>
          <a:p>
            <a:pPr indent="-342900" lvl="0" marL="457200" rtl="0" algn="l">
              <a:spcBef>
                <a:spcPts val="0"/>
              </a:spcBef>
              <a:spcAft>
                <a:spcPts val="0"/>
              </a:spcAft>
              <a:buClr>
                <a:srgbClr val="A4C2F4"/>
              </a:buClr>
              <a:buSzPts val="1800"/>
              <a:buChar char="●"/>
            </a:pPr>
            <a:r>
              <a:rPr lang="en" sz="1800">
                <a:solidFill>
                  <a:srgbClr val="A4C2F4"/>
                </a:solidFill>
              </a:rPr>
              <a:t>Keep Educating Yourself</a:t>
            </a:r>
            <a:endParaRPr sz="1800">
              <a:solidFill>
                <a:srgbClr val="A4C2F4"/>
              </a:solidFill>
            </a:endParaRPr>
          </a:p>
          <a:p>
            <a:pPr indent="-317500" lvl="1" marL="914400" rtl="0" algn="l">
              <a:spcBef>
                <a:spcPts val="0"/>
              </a:spcBef>
              <a:spcAft>
                <a:spcPts val="0"/>
              </a:spcAft>
              <a:buSzPts val="1400"/>
              <a:buChar char="○"/>
            </a:pPr>
            <a:r>
              <a:rPr lang="en" sz="1400"/>
              <a:t>Classes and other learning activities are usually easy to find</a:t>
            </a:r>
            <a:endParaRPr sz="1400"/>
          </a:p>
          <a:p>
            <a:pPr indent="-317500" lvl="1" marL="914400" rtl="0" algn="l">
              <a:spcBef>
                <a:spcPts val="0"/>
              </a:spcBef>
              <a:spcAft>
                <a:spcPts val="0"/>
              </a:spcAft>
              <a:buSzPts val="1400"/>
              <a:buChar char="○"/>
            </a:pPr>
            <a:r>
              <a:rPr lang="en" sz="1400"/>
              <a:t>May discover new things</a:t>
            </a:r>
            <a:endParaRPr sz="1400"/>
          </a:p>
        </p:txBody>
      </p:sp>
      <p:sp>
        <p:nvSpPr>
          <p:cNvPr id="271" name="Google Shape;271;p4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A4C2F4"/>
              </a:buClr>
              <a:buSzPts val="1800"/>
              <a:buChar char="●"/>
            </a:pPr>
            <a:r>
              <a:rPr lang="en" sz="1800">
                <a:solidFill>
                  <a:srgbClr val="A4C2F4"/>
                </a:solidFill>
              </a:rPr>
              <a:t>Adapt, Adopt, Improve</a:t>
            </a:r>
            <a:endParaRPr sz="1800">
              <a:solidFill>
                <a:srgbClr val="A4C2F4"/>
              </a:solidFill>
            </a:endParaRPr>
          </a:p>
          <a:p>
            <a:pPr indent="-317500" lvl="1" marL="914400" rtl="0" algn="l">
              <a:spcBef>
                <a:spcPts val="0"/>
              </a:spcBef>
              <a:spcAft>
                <a:spcPts val="0"/>
              </a:spcAft>
              <a:buSzPts val="1400"/>
              <a:buChar char="○"/>
            </a:pPr>
            <a:r>
              <a:rPr lang="en" sz="1400"/>
              <a:t>Play is different for everyone.  </a:t>
            </a:r>
            <a:endParaRPr sz="1400"/>
          </a:p>
          <a:p>
            <a:pPr indent="-317500" lvl="1" marL="914400" rtl="0" algn="l">
              <a:spcBef>
                <a:spcPts val="0"/>
              </a:spcBef>
              <a:spcAft>
                <a:spcPts val="0"/>
              </a:spcAft>
              <a:buSzPts val="1400"/>
              <a:buChar char="○"/>
            </a:pPr>
            <a:r>
              <a:rPr lang="en" sz="1400"/>
              <a:t>Don’t let someone’s style define you.</a:t>
            </a:r>
            <a:br>
              <a:rPr lang="en" sz="1400"/>
            </a:br>
            <a:endParaRPr/>
          </a:p>
          <a:p>
            <a:pPr indent="-342900" lvl="0" marL="457200" rtl="0" algn="l">
              <a:spcBef>
                <a:spcPts val="0"/>
              </a:spcBef>
              <a:spcAft>
                <a:spcPts val="0"/>
              </a:spcAft>
              <a:buClr>
                <a:srgbClr val="A4C2F4"/>
              </a:buClr>
              <a:buSzPts val="1800"/>
              <a:buChar char="●"/>
            </a:pPr>
            <a:r>
              <a:rPr lang="en" sz="1800">
                <a:solidFill>
                  <a:srgbClr val="A4C2F4"/>
                </a:solidFill>
              </a:rPr>
              <a:t>Understand the risks</a:t>
            </a:r>
            <a:endParaRPr sz="1800">
              <a:solidFill>
                <a:srgbClr val="A4C2F4"/>
              </a:solidFill>
            </a:endParaRPr>
          </a:p>
          <a:p>
            <a:pPr indent="-317500" lvl="1" marL="914400" rtl="0" algn="l">
              <a:spcBef>
                <a:spcPts val="0"/>
              </a:spcBef>
              <a:spcAft>
                <a:spcPts val="0"/>
              </a:spcAft>
              <a:buSzPts val="1400"/>
              <a:buChar char="○"/>
            </a:pPr>
            <a:r>
              <a:rPr lang="en" sz="1400"/>
              <a:t>All kink has associated risks</a:t>
            </a:r>
            <a:endParaRPr sz="1400"/>
          </a:p>
          <a:p>
            <a:pPr indent="-317500" lvl="1" marL="914400" rtl="0" algn="l">
              <a:spcBef>
                <a:spcPts val="0"/>
              </a:spcBef>
              <a:spcAft>
                <a:spcPts val="0"/>
              </a:spcAft>
              <a:buSzPts val="1400"/>
              <a:buChar char="○"/>
            </a:pPr>
            <a:r>
              <a:rPr lang="en" sz="1400"/>
              <a:t>Knowing what could happen will help lessen the chance that it does</a:t>
            </a:r>
            <a:br>
              <a:rPr lang="en" sz="1400"/>
            </a:br>
            <a:endParaRPr sz="1400"/>
          </a:p>
          <a:p>
            <a:pPr indent="-342900" lvl="0" marL="457200" rtl="0" algn="l">
              <a:spcBef>
                <a:spcPts val="0"/>
              </a:spcBef>
              <a:spcAft>
                <a:spcPts val="0"/>
              </a:spcAft>
              <a:buClr>
                <a:srgbClr val="A4C2F4"/>
              </a:buClr>
              <a:buSzPts val="1800"/>
              <a:buChar char="●"/>
            </a:pPr>
            <a:r>
              <a:rPr lang="en" sz="1800">
                <a:solidFill>
                  <a:srgbClr val="A4C2F4"/>
                </a:solidFill>
              </a:rPr>
              <a:t>Know yourself, Know your limits</a:t>
            </a:r>
            <a:endParaRPr sz="1800">
              <a:solidFill>
                <a:srgbClr val="A4C2F4"/>
              </a:solidFill>
            </a:endParaRPr>
          </a:p>
          <a:p>
            <a:pPr indent="-317500" lvl="1" marL="914400" rtl="0" algn="l">
              <a:spcBef>
                <a:spcPts val="0"/>
              </a:spcBef>
              <a:spcAft>
                <a:spcPts val="0"/>
              </a:spcAft>
              <a:buSzPts val="1400"/>
              <a:buChar char="○"/>
            </a:pPr>
            <a:r>
              <a:rPr lang="en" sz="1400"/>
              <a:t>You are the expert of your needs and limits</a:t>
            </a:r>
            <a:endParaRPr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THE ULTIMATE BEST PRACTICE</a:t>
            </a:r>
            <a:endParaRPr/>
          </a:p>
        </p:txBody>
      </p:sp>
      <p:sp>
        <p:nvSpPr>
          <p:cNvPr id="277" name="Google Shape;277;p4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type="title"/>
          </p:nvPr>
        </p:nvSpPr>
        <p:spPr>
          <a:xfrm>
            <a:off x="311700" y="445025"/>
            <a:ext cx="77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SAY IT WITH ME</a:t>
            </a:r>
            <a:endParaRPr/>
          </a:p>
        </p:txBody>
      </p:sp>
      <p:sp>
        <p:nvSpPr>
          <p:cNvPr id="283" name="Google Shape;283;p4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4"/>
          <p:cNvSpPr txBox="1"/>
          <p:nvPr>
            <p:ph idx="1" type="body"/>
          </p:nvPr>
        </p:nvSpPr>
        <p:spPr>
          <a:xfrm>
            <a:off x="4157775" y="1141175"/>
            <a:ext cx="46746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A4C2F4"/>
                </a:solidFill>
              </a:rPr>
              <a:t>COMMUNICATE!</a:t>
            </a:r>
            <a:endParaRPr sz="3600">
              <a:solidFill>
                <a:srgbClr val="A4C2F4"/>
              </a:solidFill>
            </a:endParaRPr>
          </a:p>
          <a:p>
            <a:pPr indent="0" lvl="0" marL="0" rtl="0" algn="ctr">
              <a:spcBef>
                <a:spcPts val="1200"/>
              </a:spcBef>
              <a:spcAft>
                <a:spcPts val="0"/>
              </a:spcAft>
              <a:buNone/>
            </a:pPr>
            <a:r>
              <a:rPr lang="en" sz="3600">
                <a:solidFill>
                  <a:srgbClr val="A4C2F4"/>
                </a:solidFill>
              </a:rPr>
              <a:t>COMMUNICATE!</a:t>
            </a:r>
            <a:endParaRPr sz="3600">
              <a:solidFill>
                <a:srgbClr val="A4C2F4"/>
              </a:solidFill>
            </a:endParaRPr>
          </a:p>
          <a:p>
            <a:pPr indent="0" lvl="0" marL="0" rtl="0" algn="ctr">
              <a:spcBef>
                <a:spcPts val="1200"/>
              </a:spcBef>
              <a:spcAft>
                <a:spcPts val="1200"/>
              </a:spcAft>
              <a:buNone/>
            </a:pPr>
            <a:r>
              <a:rPr lang="en" sz="3600">
                <a:solidFill>
                  <a:srgbClr val="A4C2F4"/>
                </a:solidFill>
              </a:rPr>
              <a:t>COMMUNICATE!</a:t>
            </a:r>
            <a:endParaRPr sz="3600">
              <a:solidFill>
                <a:srgbClr val="A4C2F4"/>
              </a:solidFill>
            </a:endParaRPr>
          </a:p>
        </p:txBody>
      </p:sp>
      <p:pic>
        <p:nvPicPr>
          <p:cNvPr id="285" name="Google Shape;285;p44"/>
          <p:cNvPicPr preferRelativeResize="0"/>
          <p:nvPr/>
        </p:nvPicPr>
        <p:blipFill>
          <a:blip r:embed="rId3">
            <a:alphaModFix/>
          </a:blip>
          <a:stretch>
            <a:fillRect/>
          </a:stretch>
        </p:blipFill>
        <p:spPr>
          <a:xfrm>
            <a:off x="513200" y="1304400"/>
            <a:ext cx="3270401" cy="3089949"/>
          </a:xfrm>
          <a:prstGeom prst="rect">
            <a:avLst/>
          </a:prstGeom>
          <a:noFill/>
          <a:ln>
            <a:noFill/>
          </a:ln>
        </p:spPr>
      </p:pic>
      <p:sp>
        <p:nvSpPr>
          <p:cNvPr id="286" name="Google Shape;286;p44"/>
          <p:cNvSpPr txBox="1"/>
          <p:nvPr/>
        </p:nvSpPr>
        <p:spPr>
          <a:xfrm>
            <a:off x="6195925" y="4557575"/>
            <a:ext cx="18426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000">
                <a:solidFill>
                  <a:schemeClr val="accent3"/>
                </a:solidFill>
                <a:latin typeface="Average"/>
                <a:ea typeface="Average"/>
                <a:cs typeface="Average"/>
                <a:sym typeface="Average"/>
              </a:rPr>
              <a:t>Image Credit</a:t>
            </a:r>
            <a:r>
              <a:rPr lang="en" sz="1000">
                <a:solidFill>
                  <a:schemeClr val="accent3"/>
                </a:solidFill>
                <a:latin typeface="Average"/>
                <a:ea typeface="Average"/>
                <a:cs typeface="Average"/>
                <a:sym typeface="Average"/>
              </a:rPr>
              <a:t>: </a:t>
            </a:r>
            <a:br>
              <a:rPr lang="en" sz="1000">
                <a:solidFill>
                  <a:schemeClr val="accent3"/>
                </a:solidFill>
                <a:latin typeface="Average"/>
                <a:ea typeface="Average"/>
                <a:cs typeface="Average"/>
                <a:sym typeface="Average"/>
              </a:rPr>
            </a:br>
            <a:r>
              <a:rPr lang="en" sz="1000">
                <a:solidFill>
                  <a:schemeClr val="accent3"/>
                </a:solidFill>
                <a:latin typeface="Average"/>
                <a:ea typeface="Average"/>
                <a:cs typeface="Average"/>
                <a:sym typeface="Average"/>
              </a:rPr>
              <a:t>Leonardo Creative Digita</a:t>
            </a:r>
            <a:r>
              <a:rPr lang="en" sz="1000">
                <a:solidFill>
                  <a:schemeClr val="accent3"/>
                </a:solidFill>
                <a:latin typeface="Average"/>
                <a:ea typeface="Average"/>
                <a:cs typeface="Average"/>
                <a:sym typeface="Average"/>
              </a:rPr>
              <a:t>l Art</a:t>
            </a:r>
            <a:endParaRPr sz="1000">
              <a:solidFill>
                <a:schemeClr val="accent3"/>
              </a:solidFill>
              <a:latin typeface="Average"/>
              <a:ea typeface="Average"/>
              <a:cs typeface="Average"/>
              <a:sym typeface="Averag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5"/>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 Q &amp; A</a:t>
            </a:r>
            <a:endParaRPr/>
          </a:p>
        </p:txBody>
      </p:sp>
      <p:sp>
        <p:nvSpPr>
          <p:cNvPr id="292" name="Google Shape;292;p4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afetyThird - Based on 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